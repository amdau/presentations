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gif" ContentType="image/gif"/>
  <Override PartName="/ppt/media/image9.png" ContentType="image/png"/>
  <Override PartName="/ppt/media/image6.gif" ContentType="image/gif"/>
  <Override PartName="/ppt/media/image7.png" ContentType="image/png"/>
  <Override PartName="/ppt/media/image11.png" ContentType="image/png"/>
  <Override PartName="/ppt/media/image8.png" ContentType="image/png"/>
  <Override PartName="/ppt/media/image10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0077450" cy="5668963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3640" y="132624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2187A4-D7E9-464A-BCE9-BE21F27533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3640" y="5164560"/>
            <a:ext cx="23475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4840" y="5164560"/>
            <a:ext cx="234756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5A9F78E-5AD0-42C5-A98C-F8180297A3D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gif"/><Relationship Id="rId4" Type="http://schemas.openxmlformats.org/officeDocument/2006/relationships/image" Target="../media/image6.gif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image" Target="../media/image7.png"/><Relationship Id="rId6" Type="http://schemas.openxmlformats.org/officeDocument/2006/relationships/image" Target="../media/image7.png"/><Relationship Id="rId7" Type="http://schemas.openxmlformats.org/officeDocument/2006/relationships/image" Target="../media/image7.png"/><Relationship Id="rId8" Type="http://schemas.openxmlformats.org/officeDocument/2006/relationships/image" Target="../media/image7.png"/><Relationship Id="rId9" Type="http://schemas.openxmlformats.org/officeDocument/2006/relationships/image" Target="../media/image7.png"/><Relationship Id="rId10" Type="http://schemas.openxmlformats.org/officeDocument/2006/relationships/image" Target="../media/image7.png"/><Relationship Id="rId11" Type="http://schemas.openxmlformats.org/officeDocument/2006/relationships/image" Target="../media/image7.png"/><Relationship Id="rId12" Type="http://schemas.openxmlformats.org/officeDocument/2006/relationships/image" Target="../media/image8.png"/><Relationship Id="rId13" Type="http://schemas.openxmlformats.org/officeDocument/2006/relationships/image" Target="../media/image9.png"/><Relationship Id="rId14" Type="http://schemas.openxmlformats.org/officeDocument/2006/relationships/image" Target="../media/image10.png"/><Relationship Id="rId15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19480" y="1487520"/>
            <a:ext cx="9068760" cy="206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U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s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i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n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g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 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t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e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n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s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o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r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 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n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e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t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w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o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r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k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s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 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t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o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 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s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i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m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u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l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a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t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e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 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c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o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n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c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a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t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e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n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a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t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e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d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 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b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o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s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o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n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i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c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 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c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o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d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e</a:t>
            </a:r>
            <a:r>
              <a:rPr b="0" lang="en-US" sz="4400" spc="-1" strike="noStrike">
                <a:solidFill>
                  <a:srgbClr val="d9d9ce"/>
                </a:solidFill>
                <a:latin typeface="Fira Code Light"/>
              </a:rPr>
              <a:t>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274680" y="4192560"/>
            <a:ext cx="2907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b3b3a9"/>
                </a:solidFill>
                <a:latin typeface="Arial"/>
              </a:rPr>
              <a:t>b</a:t>
            </a:r>
            <a:r>
              <a:rPr b="0" lang="en-US" sz="1800" spc="-1" strike="noStrike">
                <a:solidFill>
                  <a:srgbClr val="b3b3a9"/>
                </a:solidFill>
                <a:latin typeface="Arial"/>
              </a:rPr>
              <a:t>y </a:t>
            </a:r>
            <a:r>
              <a:rPr b="0" lang="en-US" sz="1800" spc="-1" strike="noStrike">
                <a:solidFill>
                  <a:srgbClr val="b3b3a9"/>
                </a:solidFill>
                <a:latin typeface="Arial"/>
              </a:rPr>
              <a:t>J</a:t>
            </a:r>
            <a:r>
              <a:rPr b="0" lang="en-US" sz="1800" spc="-1" strike="noStrike">
                <a:solidFill>
                  <a:srgbClr val="b3b3a9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b3b3a9"/>
                </a:solidFill>
                <a:latin typeface="Arial"/>
              </a:rPr>
              <a:t>a</a:t>
            </a:r>
            <a:r>
              <a:rPr b="0" lang="en-US" sz="1800" spc="-1" strike="noStrike">
                <a:solidFill>
                  <a:srgbClr val="b3b3a9"/>
                </a:solidFill>
                <a:latin typeface="Arial"/>
              </a:rPr>
              <a:t>n-</a:t>
            </a:r>
            <a:r>
              <a:rPr b="0" lang="en-US" sz="1800" spc="-1" strike="noStrike">
                <a:solidFill>
                  <a:srgbClr val="b3b3a9"/>
                </a:solidFill>
                <a:latin typeface="Arial"/>
              </a:rPr>
              <a:t>B</a:t>
            </a:r>
            <a:r>
              <a:rPr b="0" lang="en-US" sz="1800" spc="-1" strike="noStrike">
                <a:solidFill>
                  <a:srgbClr val="b3b3a9"/>
                </a:solidFill>
                <a:latin typeface="Arial"/>
              </a:rPr>
              <a:t>a</a:t>
            </a:r>
            <a:r>
              <a:rPr b="0" lang="en-US" sz="1800" spc="-1" strike="noStrike">
                <a:solidFill>
                  <a:srgbClr val="b3b3a9"/>
                </a:solidFill>
                <a:latin typeface="Arial"/>
              </a:rPr>
              <a:t>pt</a:t>
            </a:r>
            <a:r>
              <a:rPr b="0" lang="en-US" sz="1800" spc="-1" strike="noStrike">
                <a:solidFill>
                  <a:srgbClr val="b3b3a9"/>
                </a:solidFill>
                <a:latin typeface="Arial"/>
              </a:rPr>
              <a:t>is</a:t>
            </a:r>
            <a:r>
              <a:rPr b="0" lang="en-US" sz="1800" spc="-1" strike="noStrike">
                <a:solidFill>
                  <a:srgbClr val="b3b3a9"/>
                </a:solidFill>
                <a:latin typeface="Arial"/>
              </a:rPr>
              <a:t>te </a:t>
            </a:r>
            <a:r>
              <a:rPr b="0" lang="en-US" sz="1800" spc="-1" strike="noStrike">
                <a:solidFill>
                  <a:srgbClr val="b3b3a9"/>
                </a:solidFill>
                <a:latin typeface="Arial"/>
              </a:rPr>
              <a:t>B</a:t>
            </a:r>
            <a:r>
              <a:rPr b="0" lang="en-US" sz="1800" spc="-1" strike="noStrike">
                <a:solidFill>
                  <a:srgbClr val="b3b3a9"/>
                </a:solidFill>
                <a:latin typeface="Arial"/>
              </a:rPr>
              <a:t>er</a:t>
            </a:r>
            <a:r>
              <a:rPr b="0" lang="en-US" sz="1800" spc="-1" strike="noStrike">
                <a:solidFill>
                  <a:srgbClr val="b3b3a9"/>
                </a:solidFill>
                <a:latin typeface="Arial"/>
              </a:rPr>
              <a:t>tr</a:t>
            </a:r>
            <a:r>
              <a:rPr b="0" lang="en-US" sz="1800" spc="-1" strike="noStrike">
                <a:solidFill>
                  <a:srgbClr val="b3b3a9"/>
                </a:solidFill>
                <a:latin typeface="Arial"/>
              </a:rPr>
              <a:t>a</a:t>
            </a:r>
            <a:r>
              <a:rPr b="0" lang="en-US" sz="1800" spc="-1" strike="noStrike">
                <a:solidFill>
                  <a:srgbClr val="b3b3a9"/>
                </a:solidFill>
                <a:latin typeface="Arial"/>
              </a:rPr>
              <a:t>n</a:t>
            </a:r>
            <a:r>
              <a:rPr b="0" lang="en-US" sz="1800" spc="-1" strike="noStrike">
                <a:solidFill>
                  <a:srgbClr val="b3b3a9"/>
                </a:solidFill>
                <a:latin typeface="Arial"/>
              </a:rPr>
              <a:t>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4059360" y="2293200"/>
            <a:ext cx="1957680" cy="54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E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n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d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 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G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o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a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l</a:t>
            </a:r>
            <a:endParaRPr b="1" lang="en-US" sz="3200" spc="-1" strike="noStrike">
              <a:solidFill>
                <a:srgbClr val="d9d9ce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429480" y="3151080"/>
            <a:ext cx="609120" cy="54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x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3</a:t>
            </a:r>
            <a:endParaRPr b="0" lang="en-US" sz="3200" spc="-1" strike="noStrike">
              <a:solidFill>
                <a:srgbClr val="d9d9ce"/>
              </a:solidFill>
              <a:latin typeface="Arial"/>
            </a:endParaRPr>
          </a:p>
        </p:txBody>
      </p:sp>
      <p:sp useBgFill="1">
        <p:nvSpPr>
          <p:cNvPr id="11" name=""/>
          <p:cNvSpPr/>
          <p:nvPr/>
        </p:nvSpPr>
        <p:spPr>
          <a:xfrm>
            <a:off x="373320" y="2378160"/>
            <a:ext cx="747000" cy="70632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" descr=""/>
          <p:cNvPicPr/>
          <p:nvPr/>
        </p:nvPicPr>
        <p:blipFill>
          <a:blip r:embed="rId2">
            <a:biLevel thresh="50000"/>
            <a:lum bright="100000"/>
          </a:blip>
          <a:srcRect l="9884" t="0" r="0" b="0"/>
          <a:stretch/>
        </p:blipFill>
        <p:spPr>
          <a:xfrm>
            <a:off x="3047760" y="2144520"/>
            <a:ext cx="6827040" cy="2805120"/>
          </a:xfrm>
          <a:prstGeom prst="rect">
            <a:avLst/>
          </a:prstGeom>
          <a:ln w="0">
            <a:noFill/>
          </a:ln>
        </p:spPr>
      </p:pic>
      <p:sp>
        <p:nvSpPr>
          <p:cNvPr id="13" name=""/>
          <p:cNvSpPr txBox="1"/>
          <p:nvPr/>
        </p:nvSpPr>
        <p:spPr>
          <a:xfrm>
            <a:off x="1207080" y="1848240"/>
            <a:ext cx="992880" cy="2173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2780" spc="-1" strike="noStrike">
                <a:solidFill>
                  <a:srgbClr val="d9d9ce"/>
                </a:solidFill>
                <a:latin typeface="CMU Concrete"/>
              </a:rPr>
              <a:t>{</a:t>
            </a:r>
            <a:endParaRPr b="0" lang="en-US" sz="12780" spc="-1" strike="noStrike">
              <a:solidFill>
                <a:srgbClr val="d9d9ce"/>
              </a:solidFill>
              <a:latin typeface="CMU Concrete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95600" y="500400"/>
            <a:ext cx="8513640" cy="54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S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i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m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u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l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a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t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e 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s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y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s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t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e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m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 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w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it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h </a:t>
            </a:r>
            <a:r>
              <a:rPr b="0" i="1" lang="en-US" sz="3200" spc="-1" strike="noStrike">
                <a:solidFill>
                  <a:srgbClr val="d9d9ce"/>
                </a:solidFill>
                <a:latin typeface="Arial"/>
              </a:rPr>
              <a:t>l</a:t>
            </a:r>
            <a:r>
              <a:rPr b="0" i="1" lang="en-US" sz="3200" spc="-1" strike="noStrike">
                <a:solidFill>
                  <a:srgbClr val="d9d9ce"/>
                </a:solidFill>
                <a:latin typeface="Arial"/>
              </a:rPr>
              <a:t>a</a:t>
            </a:r>
            <a:r>
              <a:rPr b="0" i="1" lang="en-US" sz="3200" spc="-1" strike="noStrike">
                <a:solidFill>
                  <a:srgbClr val="d9d9ce"/>
                </a:solidFill>
                <a:latin typeface="Arial"/>
              </a:rPr>
              <a:t>r</a:t>
            </a:r>
            <a:r>
              <a:rPr b="0" i="1" lang="en-US" sz="3200" spc="-1" strike="noStrike">
                <a:solidFill>
                  <a:srgbClr val="d9d9ce"/>
                </a:solidFill>
                <a:latin typeface="Arial"/>
              </a:rPr>
              <a:t>g</a:t>
            </a:r>
            <a:r>
              <a:rPr b="0" i="1" lang="en-US" sz="3200" spc="-1" strike="noStrike">
                <a:solidFill>
                  <a:srgbClr val="d9d9ce"/>
                </a:solidFill>
                <a:latin typeface="Arial"/>
              </a:rPr>
              <a:t>e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 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n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u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m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b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e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r 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o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ff 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c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a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v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it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i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e</a:t>
            </a:r>
            <a:r>
              <a:rPr b="0" lang="en-US" sz="3200" spc="-1" strike="noStrike">
                <a:solidFill>
                  <a:srgbClr val="d9d9ce"/>
                </a:solidFill>
                <a:latin typeface="Arial"/>
              </a:rPr>
              <a:t>s</a:t>
            </a:r>
            <a:endParaRPr b="0" lang="en-US" sz="3200" spc="-1" strike="noStrike">
              <a:solidFill>
                <a:srgbClr val="d9d9ce"/>
              </a:solidFill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343800" y="1397160"/>
            <a:ext cx="1774800" cy="54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e</a:t>
            </a:r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.</a:t>
            </a:r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g</a:t>
            </a:r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. </a:t>
            </a:r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: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</p:txBody>
      </p:sp>
      <p:sp useBgFill="1">
        <p:nvSpPr>
          <p:cNvPr id="16" name=""/>
          <p:cNvSpPr/>
          <p:nvPr/>
        </p:nvSpPr>
        <p:spPr>
          <a:xfrm>
            <a:off x="2153520" y="2243520"/>
            <a:ext cx="949680" cy="359640"/>
          </a:xfrm>
          <a:prstGeom prst="roundRect">
            <a:avLst>
              <a:gd name="adj" fmla="val 0"/>
            </a:avLst>
          </a:prstGeom>
          <a:ln w="1908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 algn="ctr"/>
            <a:r>
              <a:rPr b="0" lang="en-US" sz="1800" spc="-1" strike="noStrike">
                <a:solidFill>
                  <a:srgbClr val="ffffff"/>
                </a:solidFill>
                <a:latin typeface="CMU Classical Serif"/>
              </a:rPr>
              <a:t>s</a:t>
            </a:r>
            <a:r>
              <a:rPr b="0" lang="en-US" sz="1800" spc="-1" strike="noStrike">
                <a:solidFill>
                  <a:srgbClr val="ffffff"/>
                </a:solidFill>
                <a:latin typeface="CMU Classical Serif"/>
              </a:rPr>
              <a:t>B</a:t>
            </a:r>
            <a:r>
              <a:rPr b="0" lang="en-US" sz="1800" spc="-1" strike="noStrike">
                <a:solidFill>
                  <a:srgbClr val="ffffff"/>
                </a:solidFill>
                <a:latin typeface="CMU Classical Serif"/>
              </a:rPr>
              <a:t>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 useBgFill="1">
        <p:nvSpPr>
          <p:cNvPr id="17" name=""/>
          <p:cNvSpPr/>
          <p:nvPr/>
        </p:nvSpPr>
        <p:spPr>
          <a:xfrm>
            <a:off x="2161800" y="2751480"/>
            <a:ext cx="949680" cy="359640"/>
          </a:xfrm>
          <a:prstGeom prst="roundRect">
            <a:avLst>
              <a:gd name="adj" fmla="val 0"/>
            </a:avLst>
          </a:prstGeom>
          <a:ln w="1908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 algn="ctr"/>
            <a:r>
              <a:rPr b="0" lang="en-US" sz="1800" spc="-1" strike="noStrike">
                <a:solidFill>
                  <a:srgbClr val="ffffff"/>
                </a:solidFill>
                <a:latin typeface="CMU Classical Serif"/>
              </a:rPr>
              <a:t>s</a:t>
            </a:r>
            <a:r>
              <a:rPr b="0" lang="en-US" sz="1800" spc="-1" strike="noStrike">
                <a:solidFill>
                  <a:srgbClr val="ffffff"/>
                </a:solidFill>
                <a:latin typeface="CMU Classical Serif"/>
              </a:rPr>
              <a:t>B</a:t>
            </a:r>
            <a:r>
              <a:rPr b="0" lang="en-US" sz="1800" spc="-1" strike="noStrike">
                <a:solidFill>
                  <a:srgbClr val="ffffff"/>
                </a:solidFill>
                <a:latin typeface="CMU Classical Serif"/>
              </a:rPr>
              <a:t>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 useBgFill="1">
        <p:nvSpPr>
          <p:cNvPr id="18" name=""/>
          <p:cNvSpPr/>
          <p:nvPr/>
        </p:nvSpPr>
        <p:spPr>
          <a:xfrm>
            <a:off x="2170080" y="3275280"/>
            <a:ext cx="949680" cy="359640"/>
          </a:xfrm>
          <a:prstGeom prst="roundRect">
            <a:avLst>
              <a:gd name="adj" fmla="val 0"/>
            </a:avLst>
          </a:prstGeom>
          <a:ln w="1908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rIns="99360" tIns="54360" bIns="54360" anchor="ctr">
            <a:noAutofit/>
          </a:bodyPr>
          <a:p>
            <a:pPr algn="ctr"/>
            <a:r>
              <a:rPr b="0" lang="en-US" sz="1800" spc="-1" strike="noStrike">
                <a:solidFill>
                  <a:srgbClr val="ffffff"/>
                </a:solidFill>
                <a:latin typeface="CMU Classical Serif"/>
              </a:rPr>
              <a:t>s</a:t>
            </a:r>
            <a:r>
              <a:rPr b="0" lang="en-US" sz="1800" spc="-1" strike="noStrike">
                <a:solidFill>
                  <a:srgbClr val="ffffff"/>
                </a:solidFill>
                <a:latin typeface="CMU Classical Serif"/>
              </a:rPr>
              <a:t>B</a:t>
            </a:r>
            <a:r>
              <a:rPr b="0" lang="en-US" sz="1800" spc="-1" strike="noStrike">
                <a:solidFill>
                  <a:srgbClr val="ffffff"/>
                </a:solidFill>
                <a:latin typeface="CMU Classical Serif"/>
              </a:rPr>
              <a:t>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4317120" y="2293200"/>
            <a:ext cx="1442520" cy="54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M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e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a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n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s</a:t>
            </a:r>
            <a:endParaRPr b="1" lang="en-US" sz="3200" spc="-1" strike="noStrike">
              <a:solidFill>
                <a:srgbClr val="d9d9ce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 descr=""/>
          <p:cNvPicPr/>
          <p:nvPr/>
        </p:nvPicPr>
        <p:blipFill>
          <a:blip r:embed="rId1">
            <a:lum bright="-10000" contrast="50000"/>
          </a:blip>
          <a:stretch/>
        </p:blipFill>
        <p:spPr>
          <a:xfrm>
            <a:off x="1263240" y="666360"/>
            <a:ext cx="1668960" cy="1095840"/>
          </a:xfrm>
          <a:prstGeom prst="rect">
            <a:avLst/>
          </a:prstGeom>
          <a:ln w="0">
            <a:noFill/>
          </a:ln>
        </p:spPr>
      </p:pic>
      <p:grpSp>
        <p:nvGrpSpPr>
          <p:cNvPr id="21" name=""/>
          <p:cNvGrpSpPr/>
          <p:nvPr/>
        </p:nvGrpSpPr>
        <p:grpSpPr>
          <a:xfrm>
            <a:off x="1234800" y="1811880"/>
            <a:ext cx="1726200" cy="3344760"/>
            <a:chOff x="1234800" y="1811880"/>
            <a:chExt cx="1726200" cy="3344760"/>
          </a:xfrm>
        </p:grpSpPr>
        <p:pic>
          <p:nvPicPr>
            <p:cNvPr id="22" name="" descr=""/>
            <p:cNvPicPr/>
            <p:nvPr/>
          </p:nvPicPr>
          <p:blipFill>
            <a:blip r:embed="rId2"/>
            <a:srcRect l="7178" t="0" r="9214" b="0"/>
            <a:stretch/>
          </p:blipFill>
          <p:spPr>
            <a:xfrm>
              <a:off x="1234800" y="1811880"/>
              <a:ext cx="1726200" cy="3037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3" name=""/>
            <p:cNvSpPr txBox="1"/>
            <p:nvPr/>
          </p:nvSpPr>
          <p:spPr>
            <a:xfrm>
              <a:off x="1340640" y="4617000"/>
              <a:ext cx="1514160" cy="5396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1" lang="en-US" sz="2200" spc="-1" strike="noStrike">
                  <a:solidFill>
                    <a:srgbClr val="ffffff"/>
                  </a:solidFill>
                  <a:latin typeface="Roboto"/>
                </a:rPr>
                <a:t>ITe</a:t>
              </a:r>
              <a:r>
                <a:rPr b="1" lang="en-US" sz="2200" spc="-1" strike="noStrike">
                  <a:solidFill>
                    <a:srgbClr val="ffffff"/>
                  </a:solidFill>
                  <a:latin typeface="Roboto"/>
                </a:rPr>
                <a:t>nso</a:t>
              </a:r>
              <a:r>
                <a:rPr b="1" lang="en-US" sz="2200" spc="-1" strike="noStrike">
                  <a:solidFill>
                    <a:srgbClr val="ffffff"/>
                  </a:solidFill>
                  <a:latin typeface="Roboto"/>
                </a:rPr>
                <a:t>rs.jl</a:t>
              </a:r>
              <a:endParaRPr b="1" lang="en-US" sz="2200" spc="-1" strike="noStrike">
                <a:solidFill>
                  <a:srgbClr val="ffffff"/>
                </a:solidFill>
                <a:latin typeface="Roboto"/>
              </a:endParaRPr>
            </a:p>
          </p:txBody>
        </p:sp>
      </p:grpSp>
      <p:sp>
        <p:nvSpPr>
          <p:cNvPr id="24" name=""/>
          <p:cNvSpPr txBox="1"/>
          <p:nvPr/>
        </p:nvSpPr>
        <p:spPr>
          <a:xfrm>
            <a:off x="-360" y="0"/>
            <a:ext cx="10077480" cy="54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U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s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i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n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g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 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t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h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e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 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I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T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e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n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s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o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r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s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 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p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a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c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k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a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g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e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 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t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o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 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r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e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p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r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e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s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e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n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t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 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p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h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y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s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i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c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a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l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 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s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y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s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t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e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m</a:t>
            </a:r>
            <a:r>
              <a:rPr b="1" lang="en-US" sz="2800" spc="-1" strike="noStrike">
                <a:solidFill>
                  <a:srgbClr val="d9d9ce"/>
                </a:solidFill>
                <a:latin typeface="Arial"/>
              </a:rPr>
              <a:t>s</a:t>
            </a:r>
            <a:endParaRPr b="1" lang="en-US" sz="2800" spc="-1" strike="noStrike">
              <a:solidFill>
                <a:srgbClr val="d9d9ce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3767040" y="2853000"/>
            <a:ext cx="725760" cy="0"/>
          </a:xfrm>
          <a:prstGeom prst="line">
            <a:avLst/>
          </a:prstGeom>
          <a:ln w="76320">
            <a:solidFill>
              <a:srgbClr val="d9d9c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27800" rIns="127800" tIns="-82800" bIns="-828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6" name=""/>
          <p:cNvGrpSpPr/>
          <p:nvPr/>
        </p:nvGrpSpPr>
        <p:grpSpPr>
          <a:xfrm>
            <a:off x="5463000" y="1153080"/>
            <a:ext cx="3679920" cy="1469160"/>
            <a:chOff x="5463000" y="1153080"/>
            <a:chExt cx="3679920" cy="1469160"/>
          </a:xfrm>
        </p:grpSpPr>
        <p:pic>
          <p:nvPicPr>
            <p:cNvPr id="27" name="" descr=""/>
            <p:cNvPicPr/>
            <p:nvPr/>
          </p:nvPicPr>
          <p:blipFill>
            <a:blip r:embed="rId3"/>
            <a:stretch/>
          </p:blipFill>
          <p:spPr>
            <a:xfrm>
              <a:off x="5690880" y="1602360"/>
              <a:ext cx="3224520" cy="10198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8" name=""/>
            <p:cNvSpPr txBox="1"/>
            <p:nvPr/>
          </p:nvSpPr>
          <p:spPr>
            <a:xfrm>
              <a:off x="5463000" y="1153080"/>
              <a:ext cx="367992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R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e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p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e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r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s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e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n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t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i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n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g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o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p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e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r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a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t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o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r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s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b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y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t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e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n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s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o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r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s</a:t>
              </a:r>
              <a:endParaRPr b="0" lang="en-US" sz="1800" spc="-1" strike="noStrike">
                <a:solidFill>
                  <a:srgbClr val="d9d9ce"/>
                </a:solidFill>
                <a:latin typeface="Arial"/>
              </a:endParaRPr>
            </a:p>
          </p:txBody>
        </p:sp>
      </p:grpSp>
      <p:grpSp>
        <p:nvGrpSpPr>
          <p:cNvPr id="29" name=""/>
          <p:cNvGrpSpPr/>
          <p:nvPr/>
        </p:nvGrpSpPr>
        <p:grpSpPr>
          <a:xfrm>
            <a:off x="5339880" y="3199320"/>
            <a:ext cx="4051800" cy="1469160"/>
            <a:chOff x="5339880" y="3199320"/>
            <a:chExt cx="4051800" cy="1469160"/>
          </a:xfrm>
        </p:grpSpPr>
        <p:pic>
          <p:nvPicPr>
            <p:cNvPr id="30" name="" descr=""/>
            <p:cNvPicPr/>
            <p:nvPr/>
          </p:nvPicPr>
          <p:blipFill>
            <a:blip r:embed="rId4"/>
            <a:stretch/>
          </p:blipFill>
          <p:spPr>
            <a:xfrm>
              <a:off x="6630840" y="3648600"/>
              <a:ext cx="1469880" cy="10198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1" name=""/>
            <p:cNvSpPr txBox="1"/>
            <p:nvPr/>
          </p:nvSpPr>
          <p:spPr>
            <a:xfrm>
              <a:off x="5339880" y="3199320"/>
              <a:ext cx="4051800" cy="3463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 algn="ctr"/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R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e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p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e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r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s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e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n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t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i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n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g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s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y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s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t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e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m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s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w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i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t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h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 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M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P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S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/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M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P</a:t>
              </a:r>
              <a:r>
                <a:rPr b="0" lang="en-US" sz="1800" spc="-1" strike="noStrike">
                  <a:solidFill>
                    <a:srgbClr val="d9d9ce"/>
                  </a:solidFill>
                  <a:latin typeface="Arial"/>
                </a:rPr>
                <a:t>O</a:t>
              </a:r>
              <a:endParaRPr b="0" lang="en-US" sz="1800" spc="-1" strike="noStrike">
                <a:solidFill>
                  <a:srgbClr val="d9d9ce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 txBox="1"/>
          <p:nvPr/>
        </p:nvSpPr>
        <p:spPr>
          <a:xfrm>
            <a:off x="2483640" y="0"/>
            <a:ext cx="5338080" cy="54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W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h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y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 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u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s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e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 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t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e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n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s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o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r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 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n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e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t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w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o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r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k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s</a:t>
            </a:r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?</a:t>
            </a:r>
            <a:endParaRPr b="1" lang="en-US" sz="3200" spc="-1" strike="noStrike">
              <a:solidFill>
                <a:srgbClr val="d9d9ce"/>
              </a:solidFill>
              <a:latin typeface="Arial"/>
            </a:endParaRPr>
          </a:p>
        </p:txBody>
      </p:sp>
      <p:grpSp>
        <p:nvGrpSpPr>
          <p:cNvPr id="33" name=""/>
          <p:cNvGrpSpPr/>
          <p:nvPr/>
        </p:nvGrpSpPr>
        <p:grpSpPr>
          <a:xfrm>
            <a:off x="2986200" y="2081880"/>
            <a:ext cx="2121120" cy="1035360"/>
            <a:chOff x="2986200" y="2081880"/>
            <a:chExt cx="2121120" cy="1035360"/>
          </a:xfrm>
        </p:grpSpPr>
        <p:sp>
          <p:nvSpPr>
            <p:cNvPr id="34" name=""/>
            <p:cNvSpPr/>
            <p:nvPr/>
          </p:nvSpPr>
          <p:spPr>
            <a:xfrm>
              <a:off x="2986200" y="2467440"/>
              <a:ext cx="2121120" cy="649800"/>
            </a:xfrm>
            <a:prstGeom prst="roundRect">
              <a:avLst>
                <a:gd name="adj" fmla="val 50000"/>
              </a:avLst>
            </a:prstGeom>
            <a:solidFill>
              <a:srgbClr val="729fcf"/>
            </a:solidFill>
            <a:ln w="38160">
              <a:solidFill>
                <a:srgbClr val="d9d9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9080" rIns="109080" tIns="64080" bIns="6408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35" name=""/>
            <p:cNvGrpSpPr/>
            <p:nvPr/>
          </p:nvGrpSpPr>
          <p:grpSpPr>
            <a:xfrm>
              <a:off x="3503160" y="2081880"/>
              <a:ext cx="1086840" cy="385560"/>
              <a:chOff x="3503160" y="2081880"/>
              <a:chExt cx="1086840" cy="385560"/>
            </a:xfrm>
          </p:grpSpPr>
          <p:sp>
            <p:nvSpPr>
              <p:cNvPr id="36" name=""/>
              <p:cNvSpPr/>
              <p:nvPr/>
            </p:nvSpPr>
            <p:spPr>
              <a:xfrm>
                <a:off x="3503160" y="2081880"/>
                <a:ext cx="0" cy="385560"/>
              </a:xfrm>
              <a:prstGeom prst="line">
                <a:avLst/>
              </a:prstGeom>
              <a:ln w="38160">
                <a:solidFill>
                  <a:srgbClr val="d9d9c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9080" rIns="109080" tIns="64080" bIns="6408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37" name=""/>
              <p:cNvSpPr/>
              <p:nvPr/>
            </p:nvSpPr>
            <p:spPr>
              <a:xfrm>
                <a:off x="4590000" y="2081880"/>
                <a:ext cx="0" cy="385560"/>
              </a:xfrm>
              <a:prstGeom prst="line">
                <a:avLst/>
              </a:prstGeom>
              <a:ln w="38160">
                <a:solidFill>
                  <a:srgbClr val="d9d9ce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09080" rIns="109080" tIns="64080" bIns="64080" anchor="ctr">
                <a:noAutofit/>
              </a:bodyPr>
              <a:p>
                <a:endParaRPr b="0" lang="en-US" sz="18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38" name=""/>
          <p:cNvSpPr txBox="1"/>
          <p:nvPr/>
        </p:nvSpPr>
        <p:spPr>
          <a:xfrm>
            <a:off x="5512320" y="2520000"/>
            <a:ext cx="37440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=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 rot="44400">
            <a:off x="6162480" y="2444400"/>
            <a:ext cx="642240" cy="645480"/>
          </a:xfrm>
          <a:prstGeom prst="ellipse">
            <a:avLst/>
          </a:prstGeom>
          <a:solidFill>
            <a:srgbClr val="cf72b7"/>
          </a:solidFill>
          <a:ln w="38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" name="" descr=""/>
          <p:cNvPicPr/>
          <p:nvPr/>
        </p:nvPicPr>
        <p:blipFill>
          <a:blip r:embed="rId1"/>
          <a:stretch/>
        </p:blipFill>
        <p:spPr>
          <a:xfrm>
            <a:off x="6466320" y="2039400"/>
            <a:ext cx="34200" cy="416520"/>
          </a:xfrm>
          <a:prstGeom prst="rect">
            <a:avLst/>
          </a:prstGeom>
          <a:ln w="0">
            <a:noFill/>
          </a:ln>
        </p:spPr>
      </p:pic>
      <p:pic>
        <p:nvPicPr>
          <p:cNvPr id="41" name="" descr=""/>
          <p:cNvPicPr/>
          <p:nvPr/>
        </p:nvPicPr>
        <p:blipFill>
          <a:blip r:embed="rId2"/>
          <a:stretch/>
        </p:blipFill>
        <p:spPr>
          <a:xfrm rot="5400000">
            <a:off x="7000200" y="2549160"/>
            <a:ext cx="34200" cy="416520"/>
          </a:xfrm>
          <a:prstGeom prst="rect">
            <a:avLst/>
          </a:prstGeom>
          <a:ln w="0">
            <a:noFill/>
          </a:ln>
        </p:spPr>
      </p:pic>
      <p:sp>
        <p:nvSpPr>
          <p:cNvPr id="42" name=""/>
          <p:cNvSpPr/>
          <p:nvPr/>
        </p:nvSpPr>
        <p:spPr>
          <a:xfrm>
            <a:off x="7176600" y="2426400"/>
            <a:ext cx="651240" cy="651240"/>
          </a:xfrm>
          <a:prstGeom prst="rect">
            <a:avLst/>
          </a:prstGeom>
          <a:solidFill>
            <a:srgbClr val="729fcf"/>
          </a:solidFill>
          <a:ln w="38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3"/>
          <a:stretch/>
        </p:blipFill>
        <p:spPr>
          <a:xfrm rot="5400000">
            <a:off x="8018640" y="2563920"/>
            <a:ext cx="34560" cy="416520"/>
          </a:xfrm>
          <a:prstGeom prst="rect">
            <a:avLst/>
          </a:prstGeom>
          <a:ln w="0">
            <a:noFill/>
          </a:ln>
        </p:spPr>
      </p:pic>
      <p:sp>
        <p:nvSpPr>
          <p:cNvPr id="44" name=""/>
          <p:cNvSpPr/>
          <p:nvPr/>
        </p:nvSpPr>
        <p:spPr>
          <a:xfrm rot="44400">
            <a:off x="8230680" y="2451600"/>
            <a:ext cx="642600" cy="645120"/>
          </a:xfrm>
          <a:prstGeom prst="ellipse">
            <a:avLst/>
          </a:prstGeom>
          <a:solidFill>
            <a:srgbClr val="d99a8d"/>
          </a:solidFill>
          <a:ln w="38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4"/>
          <a:stretch/>
        </p:blipFill>
        <p:spPr>
          <a:xfrm>
            <a:off x="8534880" y="2045880"/>
            <a:ext cx="34200" cy="416880"/>
          </a:xfrm>
          <a:prstGeom prst="rect">
            <a:avLst/>
          </a:prstGeom>
          <a:ln w="0">
            <a:noFill/>
          </a:ln>
        </p:spPr>
      </p:pic>
      <p:sp>
        <p:nvSpPr>
          <p:cNvPr id="46" name=""/>
          <p:cNvSpPr txBox="1"/>
          <p:nvPr/>
        </p:nvSpPr>
        <p:spPr>
          <a:xfrm>
            <a:off x="3379680" y="1589760"/>
            <a:ext cx="25380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i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4459320" y="1589760"/>
            <a:ext cx="25380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j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6367680" y="1627200"/>
            <a:ext cx="25380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i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436240" y="1627200"/>
            <a:ext cx="25380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j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617760" y="4244400"/>
            <a:ext cx="36216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≈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5512320" y="2520000"/>
            <a:ext cx="37440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=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6291720" y="2557440"/>
            <a:ext cx="42012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U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8368560" y="2580120"/>
            <a:ext cx="40176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V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 rot="44400">
            <a:off x="1259640" y="4168080"/>
            <a:ext cx="642600" cy="645120"/>
          </a:xfrm>
          <a:prstGeom prst="ellipse">
            <a:avLst/>
          </a:prstGeom>
          <a:solidFill>
            <a:srgbClr val="cf72b7"/>
          </a:solidFill>
          <a:ln w="38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5"/>
          <a:stretch/>
        </p:blipFill>
        <p:spPr>
          <a:xfrm>
            <a:off x="1563840" y="3762360"/>
            <a:ext cx="34200" cy="416880"/>
          </a:xfrm>
          <a:prstGeom prst="rect">
            <a:avLst/>
          </a:prstGeom>
          <a:ln w="0">
            <a:noFill/>
          </a:ln>
        </p:spPr>
      </p:pic>
      <p:pic>
        <p:nvPicPr>
          <p:cNvPr id="56" name="" descr=""/>
          <p:cNvPicPr/>
          <p:nvPr/>
        </p:nvPicPr>
        <p:blipFill>
          <a:blip r:embed="rId6"/>
          <a:stretch/>
        </p:blipFill>
        <p:spPr>
          <a:xfrm rot="5400000">
            <a:off x="2098080" y="4272120"/>
            <a:ext cx="33840" cy="416880"/>
          </a:xfrm>
          <a:prstGeom prst="rect">
            <a:avLst/>
          </a:prstGeom>
          <a:ln w="0">
            <a:noFill/>
          </a:ln>
        </p:spPr>
      </p:pic>
      <p:sp>
        <p:nvSpPr>
          <p:cNvPr id="57" name=""/>
          <p:cNvSpPr/>
          <p:nvPr/>
        </p:nvSpPr>
        <p:spPr>
          <a:xfrm>
            <a:off x="2274120" y="4150080"/>
            <a:ext cx="651240" cy="651240"/>
          </a:xfrm>
          <a:prstGeom prst="rect">
            <a:avLst/>
          </a:prstGeom>
          <a:solidFill>
            <a:srgbClr val="729fcf"/>
          </a:solidFill>
          <a:ln w="38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7"/>
          <a:stretch/>
        </p:blipFill>
        <p:spPr>
          <a:xfrm rot="5400000">
            <a:off x="3116520" y="4287240"/>
            <a:ext cx="33840" cy="416520"/>
          </a:xfrm>
          <a:prstGeom prst="rect">
            <a:avLst/>
          </a:prstGeom>
          <a:ln w="0">
            <a:noFill/>
          </a:ln>
        </p:spPr>
      </p:pic>
      <p:sp>
        <p:nvSpPr>
          <p:cNvPr id="59" name=""/>
          <p:cNvSpPr/>
          <p:nvPr/>
        </p:nvSpPr>
        <p:spPr>
          <a:xfrm rot="46200">
            <a:off x="3327840" y="4174560"/>
            <a:ext cx="642240" cy="645480"/>
          </a:xfrm>
          <a:prstGeom prst="ellipse">
            <a:avLst/>
          </a:prstGeom>
          <a:solidFill>
            <a:srgbClr val="d99a8d"/>
          </a:solidFill>
          <a:ln w="38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" descr=""/>
          <p:cNvPicPr/>
          <p:nvPr/>
        </p:nvPicPr>
        <p:blipFill>
          <a:blip r:embed="rId8"/>
          <a:stretch/>
        </p:blipFill>
        <p:spPr>
          <a:xfrm>
            <a:off x="3632040" y="3769560"/>
            <a:ext cx="34200" cy="416520"/>
          </a:xfrm>
          <a:prstGeom prst="rect">
            <a:avLst/>
          </a:prstGeom>
          <a:ln w="0">
            <a:noFill/>
          </a:ln>
        </p:spPr>
      </p:pic>
      <p:sp>
        <p:nvSpPr>
          <p:cNvPr id="61" name=""/>
          <p:cNvSpPr txBox="1"/>
          <p:nvPr/>
        </p:nvSpPr>
        <p:spPr>
          <a:xfrm>
            <a:off x="1465200" y="3350880"/>
            <a:ext cx="25380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i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3533400" y="3350880"/>
            <a:ext cx="25380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j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389240" y="4280760"/>
            <a:ext cx="42012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U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3466080" y="4303440"/>
            <a:ext cx="40176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V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2799000" y="4213080"/>
            <a:ext cx="0" cy="540000"/>
          </a:xfrm>
          <a:prstGeom prst="line">
            <a:avLst/>
          </a:prstGeom>
          <a:ln w="3816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63720" bIns="637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2345040" y="4668120"/>
            <a:ext cx="539640" cy="0"/>
          </a:xfrm>
          <a:prstGeom prst="line">
            <a:avLst/>
          </a:prstGeom>
          <a:ln w="3816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720" rIns="108720" tIns="-63720" bIns="-637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4297680" y="4281840"/>
            <a:ext cx="37440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=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 rot="46200">
            <a:off x="4797360" y="4174560"/>
            <a:ext cx="642240" cy="645480"/>
          </a:xfrm>
          <a:prstGeom prst="ellipse">
            <a:avLst/>
          </a:prstGeom>
          <a:solidFill>
            <a:srgbClr val="cf72b7"/>
          </a:solidFill>
          <a:ln w="38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" descr=""/>
          <p:cNvPicPr/>
          <p:nvPr/>
        </p:nvPicPr>
        <p:blipFill>
          <a:blip r:embed="rId9"/>
          <a:stretch/>
        </p:blipFill>
        <p:spPr>
          <a:xfrm>
            <a:off x="5101560" y="3769560"/>
            <a:ext cx="34560" cy="416520"/>
          </a:xfrm>
          <a:prstGeom prst="rect">
            <a:avLst/>
          </a:prstGeom>
          <a:ln w="0">
            <a:noFill/>
          </a:ln>
        </p:spPr>
      </p:pic>
      <p:pic>
        <p:nvPicPr>
          <p:cNvPr id="70" name="" descr=""/>
          <p:cNvPicPr/>
          <p:nvPr/>
        </p:nvPicPr>
        <p:blipFill>
          <a:blip r:embed="rId10"/>
          <a:stretch/>
        </p:blipFill>
        <p:spPr>
          <a:xfrm rot="5400000">
            <a:off x="5635800" y="4278960"/>
            <a:ext cx="34200" cy="417240"/>
          </a:xfrm>
          <a:prstGeom prst="rect">
            <a:avLst/>
          </a:prstGeom>
          <a:ln w="0">
            <a:noFill/>
          </a:ln>
        </p:spPr>
      </p:pic>
      <p:sp>
        <p:nvSpPr>
          <p:cNvPr id="71" name=""/>
          <p:cNvSpPr/>
          <p:nvPr/>
        </p:nvSpPr>
        <p:spPr>
          <a:xfrm rot="44400">
            <a:off x="5846760" y="4167000"/>
            <a:ext cx="642600" cy="645120"/>
          </a:xfrm>
          <a:prstGeom prst="ellipse">
            <a:avLst/>
          </a:prstGeom>
          <a:solidFill>
            <a:srgbClr val="d99a8d"/>
          </a:solidFill>
          <a:ln w="38160">
            <a:solidFill>
              <a:srgbClr val="d9d9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1"/>
          <a:stretch/>
        </p:blipFill>
        <p:spPr>
          <a:xfrm>
            <a:off x="6150960" y="3761280"/>
            <a:ext cx="34200" cy="416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 txBox="1"/>
          <p:nvPr/>
        </p:nvSpPr>
        <p:spPr>
          <a:xfrm>
            <a:off x="5002920" y="3357720"/>
            <a:ext cx="25380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i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052320" y="3342960"/>
            <a:ext cx="25380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j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927320" y="4287960"/>
            <a:ext cx="42012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U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5984280" y="4295520"/>
            <a:ext cx="40176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V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2"/>
          <a:stretch/>
        </p:blipFill>
        <p:spPr>
          <a:xfrm>
            <a:off x="615600" y="1563840"/>
            <a:ext cx="2320920" cy="368280"/>
          </a:xfrm>
          <a:prstGeom prst="rect">
            <a:avLst/>
          </a:prstGeom>
          <a:ln w="0">
            <a:noFill/>
          </a:ln>
        </p:spPr>
      </p:pic>
      <p:sp>
        <p:nvSpPr>
          <p:cNvPr id="78" name=""/>
          <p:cNvSpPr txBox="1"/>
          <p:nvPr/>
        </p:nvSpPr>
        <p:spPr>
          <a:xfrm>
            <a:off x="7311600" y="2549880"/>
            <a:ext cx="40176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S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3"/>
          <a:stretch/>
        </p:blipFill>
        <p:spPr>
          <a:xfrm>
            <a:off x="4078440" y="5112720"/>
            <a:ext cx="5274000" cy="372240"/>
          </a:xfrm>
          <a:prstGeom prst="rect">
            <a:avLst/>
          </a:prstGeom>
          <a:ln w="0">
            <a:noFill/>
          </a:ln>
        </p:spPr>
      </p:pic>
      <p:sp>
        <p:nvSpPr>
          <p:cNvPr id="80" name=""/>
          <p:cNvSpPr txBox="1"/>
          <p:nvPr/>
        </p:nvSpPr>
        <p:spPr>
          <a:xfrm>
            <a:off x="5444280" y="3966480"/>
            <a:ext cx="36504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d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</p:txBody>
      </p:sp>
      <p:pic>
        <p:nvPicPr>
          <p:cNvPr id="81" name="" descr=""/>
          <p:cNvPicPr/>
          <p:nvPr/>
        </p:nvPicPr>
        <p:blipFill>
          <a:blip r:embed="rId14"/>
          <a:stretch/>
        </p:blipFill>
        <p:spPr>
          <a:xfrm>
            <a:off x="6784920" y="3669840"/>
            <a:ext cx="2565720" cy="356760"/>
          </a:xfrm>
          <a:prstGeom prst="rect">
            <a:avLst/>
          </a:prstGeom>
          <a:ln w="0">
            <a:noFill/>
          </a:ln>
        </p:spPr>
      </p:pic>
      <p:sp>
        <p:nvSpPr>
          <p:cNvPr id="82" name=""/>
          <p:cNvSpPr txBox="1"/>
          <p:nvPr/>
        </p:nvSpPr>
        <p:spPr>
          <a:xfrm>
            <a:off x="94320" y="920160"/>
            <a:ext cx="7669800" cy="45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Great memory saving some techniques (e.g. SVD) 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818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 txBox="1"/>
          <p:nvPr/>
        </p:nvSpPr>
        <p:spPr>
          <a:xfrm>
            <a:off x="3708000" y="0"/>
            <a:ext cx="2660400" cy="542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3200" spc="-1" strike="noStrike">
                <a:solidFill>
                  <a:srgbClr val="d9d9ce"/>
                </a:solidFill>
                <a:latin typeface="Arial"/>
              </a:rPr>
              <a:t>Other means</a:t>
            </a:r>
            <a:endParaRPr b="1" lang="en-US" sz="3200" spc="-1" strike="noStrike">
              <a:solidFill>
                <a:srgbClr val="d9d9ce"/>
              </a:solidFill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0" y="777240"/>
            <a:ext cx="8369280" cy="82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Combine the use of tensor network with other thecnique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  <a:p>
            <a:r>
              <a:rPr b="0" lang="en-US" sz="2600" spc="-1" strike="noStrike">
                <a:solidFill>
                  <a:srgbClr val="d9d9ce"/>
                </a:solidFill>
                <a:latin typeface="Arial"/>
              </a:rPr>
              <a:t>(e.g. sBs basis)</a:t>
            </a:r>
            <a:endParaRPr b="0" lang="en-US" sz="2600" spc="-1" strike="noStrike">
              <a:solidFill>
                <a:srgbClr val="d9d9ce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rcRect l="244" t="0" r="566" b="0"/>
          <a:stretch/>
        </p:blipFill>
        <p:spPr>
          <a:xfrm>
            <a:off x="3296520" y="1953000"/>
            <a:ext cx="2960640" cy="350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</TotalTime>
  <Application>LibreOffice/7.6.7.2$Linux_X86_64 LibreOffice_project/60$Build-2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2024-07-01T16:12:17Z</dcterms:created>
  <dc:creator/>
  <dc:description/>
  <dc:language>en-US</dc:language>
  <cp:lastModifiedBy/>
  <cp:lastPrinted>2024-07-01T17:40:37Z</cp:lastPrinted>
  <dcterms:modified xsi:type="dcterms:W3CDTF">2024-07-01T19:25:42Z</dcterms:modified>
  <cp:revision>4</cp:revision>
  <dc:subject/>
  <dc:title/>
</cp:coreProperties>
</file>