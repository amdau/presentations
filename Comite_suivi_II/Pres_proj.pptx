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3.png" ContentType="image/png"/>
  <Override PartName="/ppt/media/image4.svg" ContentType="image/svg"/>
  <Override PartName="/ppt/media/image37.png" ContentType="image/png"/>
  <Override PartName="/ppt/media/image5.png" ContentType="image/png"/>
  <Override PartName="/ppt/media/image1.png" ContentType="image/png"/>
  <Override PartName="/ppt/media/image33.png" ContentType="image/png"/>
  <Override PartName="/ppt/media/image15.png" ContentType="image/png"/>
  <Override PartName="/ppt/media/image12.gif" ContentType="image/gif"/>
  <Override PartName="/ppt/media/image30.png" ContentType="image/png"/>
  <Override PartName="/ppt/media/image31.png" ContentType="image/png"/>
  <Override PartName="/ppt/media/image32.png" ContentType="image/png"/>
  <Override PartName="/ppt/media/image34.png" ContentType="image/png"/>
  <Override PartName="/ppt/media/image36.png" ContentType="image/png"/>
  <Override PartName="/ppt/media/image38.png" ContentType="image/png"/>
  <Override PartName="/ppt/media/image11.gif" ContentType="image/gif"/>
  <Override PartName="/ppt/media/image9.png" ContentType="image/png"/>
  <Override PartName="/ppt/media/image18.png" ContentType="image/png"/>
  <Override PartName="/ppt/media/image20.png" ContentType="image/png"/>
  <Override PartName="/ppt/media/image14.png" ContentType="image/png"/>
  <Override PartName="/ppt/media/image6.svg" ContentType="image/svg"/>
  <Override PartName="/ppt/media/image39.png" ContentType="image/png"/>
  <Override PartName="/ppt/media/image7.png" ContentType="image/png"/>
  <Override PartName="/ppt/media/image16.png" ContentType="image/png"/>
  <Override PartName="/ppt/media/image8.svg" ContentType="image/svg"/>
  <Override PartName="/ppt/media/image10.png" ContentType="image/png"/>
  <Override PartName="/ppt/media/image2.svg" ContentType="image/svg"/>
  <Override PartName="/ppt/media/image35.png" ContentType="image/png"/>
  <Override PartName="/ppt/media/image3.png" ContentType="image/png"/>
  <Override PartName="/ppt/media/image1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0077450" cy="5668963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2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DBCB16-909A-47AC-92BA-85B7942026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328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C054AE-74B3-42FF-9071-B580CEDE94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2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4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7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7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7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3280" y="5164200"/>
            <a:ext cx="23475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5560" y="516420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4480" y="5164200"/>
            <a:ext cx="23475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219E5D9-15BA-43B2-B706-03D28B6A3ED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gif"/><Relationship Id="rId4" Type="http://schemas.openxmlformats.org/officeDocument/2006/relationships/image" Target="../media/image12.gif"/><Relationship Id="rId5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image" Target="../media/image13.png"/><Relationship Id="rId6" Type="http://schemas.openxmlformats.org/officeDocument/2006/relationships/image" Target="../media/image13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13.png"/><Relationship Id="rId18" Type="http://schemas.openxmlformats.org/officeDocument/2006/relationships/image" Target="../media/image13.png"/><Relationship Id="rId19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6.png"/><Relationship Id="rId6" Type="http://schemas.openxmlformats.org/officeDocument/2006/relationships/image" Target="../media/image14.png"/><Relationship Id="rId7" Type="http://schemas.openxmlformats.org/officeDocument/2006/relationships/image" Target="../media/image34.png"/><Relationship Id="rId8" Type="http://schemas.openxmlformats.org/officeDocument/2006/relationships/image" Target="../media/image34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5.png"/><Relationship Id="rId12" Type="http://schemas.openxmlformats.org/officeDocument/2006/relationships/image" Target="../media/image35.png"/><Relationship Id="rId13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image" Target="../media/image13.png"/><Relationship Id="rId6" Type="http://schemas.openxmlformats.org/officeDocument/2006/relationships/image" Target="../media/image13.png"/><Relationship Id="rId7" Type="http://schemas.openxmlformats.org/officeDocument/2006/relationships/image" Target="../media/image13.png"/><Relationship Id="rId8" Type="http://schemas.openxmlformats.org/officeDocument/2006/relationships/image" Target="../media/image13.png"/><Relationship Id="rId9" Type="http://schemas.openxmlformats.org/officeDocument/2006/relationships/image" Target="../media/image13.png"/><Relationship Id="rId10" Type="http://schemas.openxmlformats.org/officeDocument/2006/relationships/image" Target="../media/image13.png"/><Relationship Id="rId11" Type="http://schemas.openxmlformats.org/officeDocument/2006/relationships/image" Target="../media/image13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19120" y="1487160"/>
            <a:ext cx="9068760" cy="206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i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m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u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l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a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t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i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o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n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 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e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f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f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i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c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a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c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e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 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d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e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 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y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t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è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m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e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 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à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 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p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l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u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i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e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u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r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 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c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a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v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i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t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é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74320" y="4192200"/>
            <a:ext cx="317664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p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a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r 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J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e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a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n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-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B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a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p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t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i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s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t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e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 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B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e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r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t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r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a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n</a:t>
            </a:r>
            <a:r>
              <a:rPr b="0" lang="en-US" sz="1800" spc="-1" strike="noStrike">
                <a:solidFill>
                  <a:srgbClr val="b3b3a9"/>
                </a:solidFill>
                <a:latin typeface="CMU Serif"/>
              </a:rPr>
              <a:t>d</a:t>
            </a:r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2959200" y="2292840"/>
            <a:ext cx="4158360" cy="634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B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u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t 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e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t 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J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u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s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t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i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f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i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c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a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t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i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o</a:t>
            </a:r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n</a:t>
            </a:r>
            <a:endParaRPr b="0" lang="en-US" sz="3200" spc="-1" strike="noStrike">
              <a:solidFill>
                <a:srgbClr val="ffffff"/>
              </a:solidFill>
              <a:latin typeface="CM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"/>
          <p:cNvGrpSpPr/>
          <p:nvPr/>
        </p:nvGrpSpPr>
        <p:grpSpPr>
          <a:xfrm>
            <a:off x="2307960" y="1733760"/>
            <a:ext cx="1436400" cy="1436040"/>
            <a:chOff x="2307960" y="1733760"/>
            <a:chExt cx="1436400" cy="1436040"/>
          </a:xfrm>
        </p:grpSpPr>
        <p:grpSp>
          <p:nvGrpSpPr>
            <p:cNvPr id="13" name=""/>
            <p:cNvGrpSpPr/>
            <p:nvPr/>
          </p:nvGrpSpPr>
          <p:grpSpPr>
            <a:xfrm>
              <a:off x="2307960" y="1733760"/>
              <a:ext cx="1436400" cy="1436040"/>
              <a:chOff x="2307960" y="1733760"/>
              <a:chExt cx="1436400" cy="1436040"/>
            </a:xfrm>
          </p:grpSpPr>
          <p:sp>
            <p:nvSpPr>
              <p:cNvPr id="14" name=""/>
              <p:cNvSpPr/>
              <p:nvPr/>
            </p:nvSpPr>
            <p:spPr>
              <a:xfrm>
                <a:off x="2307960" y="1733760"/>
                <a:ext cx="1436400" cy="1436040"/>
              </a:xfrm>
              <a:prstGeom prst="ellipse">
                <a:avLst/>
              </a:prstGeom>
              <a:noFill/>
              <a:ln w="38160">
                <a:solidFill>
                  <a:srgbClr val="d9d9c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720" rIns="108720" tIns="63720" bIns="6372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CMU Serif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 rot="10800000">
                <a:off x="2307960" y="2284200"/>
                <a:ext cx="1436400" cy="320400"/>
              </a:xfrm>
              <a:prstGeom prst="arc">
                <a:avLst>
                  <a:gd name="adj1" fmla="val 10757399"/>
                  <a:gd name="adj2" fmla="val 0"/>
                </a:avLst>
              </a:prstGeom>
              <a:noFill/>
              <a:ln w="38160">
                <a:solidFill>
                  <a:srgbClr val="d9d9c0"/>
                </a:solidFill>
                <a:round/>
              </a:ln>
            </p:spPr>
            <p:txBody>
              <a:bodyPr lIns="109080" rIns="109080" tIns="64080" bIns="6408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CMU Serif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2307960" y="2290680"/>
                <a:ext cx="1436400" cy="320400"/>
              </a:xfrm>
              <a:prstGeom prst="arc">
                <a:avLst>
                  <a:gd name="adj1" fmla="val 10757399"/>
                  <a:gd name="adj2" fmla="val 0"/>
                </a:avLst>
              </a:prstGeom>
              <a:noFill/>
              <a:ln cap="rnd" w="38160">
                <a:solidFill>
                  <a:srgbClr val="d9d9c0"/>
                </a:solidFill>
                <a:prstDash val="dash"/>
                <a:round/>
              </a:ln>
            </p:spPr>
            <p:txBody>
              <a:bodyPr lIns="109080" rIns="109080" tIns="64080" bIns="6408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CMU Serif"/>
                </a:endParaRPr>
              </a:p>
            </p:txBody>
          </p:sp>
        </p:grpSp>
        <p:sp>
          <p:nvSpPr>
            <p:cNvPr id="17" name=""/>
            <p:cNvSpPr/>
            <p:nvPr/>
          </p:nvSpPr>
          <p:spPr>
            <a:xfrm flipV="1">
              <a:off x="3026160" y="1733760"/>
              <a:ext cx="0" cy="726120"/>
            </a:xfrm>
            <a:prstGeom prst="line">
              <a:avLst/>
            </a:prstGeom>
            <a:ln w="38160">
              <a:solidFill>
                <a:srgbClr val="d9d9c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108720" rIns="108720" tIns="63720" bIns="6372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CMU Serif"/>
              </a:endParaRPr>
            </a:p>
          </p:txBody>
        </p:sp>
      </p:grpSp>
      <p:grpSp>
        <p:nvGrpSpPr>
          <p:cNvPr id="18" name=""/>
          <p:cNvGrpSpPr/>
          <p:nvPr/>
        </p:nvGrpSpPr>
        <p:grpSpPr>
          <a:xfrm>
            <a:off x="623160" y="3899520"/>
            <a:ext cx="4762800" cy="1436040"/>
            <a:chOff x="623160" y="3899520"/>
            <a:chExt cx="4762800" cy="1436040"/>
          </a:xfrm>
        </p:grpSpPr>
        <p:grpSp>
          <p:nvGrpSpPr>
            <p:cNvPr id="19" name=""/>
            <p:cNvGrpSpPr/>
            <p:nvPr/>
          </p:nvGrpSpPr>
          <p:grpSpPr>
            <a:xfrm>
              <a:off x="623160" y="3899520"/>
              <a:ext cx="1436040" cy="1436040"/>
              <a:chOff x="623160" y="3899520"/>
              <a:chExt cx="1436040" cy="1436040"/>
            </a:xfrm>
          </p:grpSpPr>
          <p:grpSp>
            <p:nvGrpSpPr>
              <p:cNvPr id="20" name=""/>
              <p:cNvGrpSpPr/>
              <p:nvPr/>
            </p:nvGrpSpPr>
            <p:grpSpPr>
              <a:xfrm>
                <a:off x="623160" y="3899520"/>
                <a:ext cx="1436040" cy="1436040"/>
                <a:chOff x="623160" y="3899520"/>
                <a:chExt cx="1436040" cy="1436040"/>
              </a:xfrm>
            </p:grpSpPr>
            <p:sp>
              <p:nvSpPr>
                <p:cNvPr id="21" name=""/>
                <p:cNvSpPr/>
                <p:nvPr/>
              </p:nvSpPr>
              <p:spPr>
                <a:xfrm>
                  <a:off x="623160" y="3899520"/>
                  <a:ext cx="1436040" cy="1436040"/>
                </a:xfrm>
                <a:prstGeom prst="ellipse">
                  <a:avLst/>
                </a:prstGeom>
                <a:noFill/>
                <a:ln w="38160">
                  <a:solidFill>
                    <a:srgbClr val="d9d9c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720" rIns="108720" tIns="63720" bIns="6372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  <p:sp>
              <p:nvSpPr>
                <p:cNvPr id="22" name=""/>
                <p:cNvSpPr/>
                <p:nvPr/>
              </p:nvSpPr>
              <p:spPr>
                <a:xfrm rot="10800000">
                  <a:off x="623160" y="4449960"/>
                  <a:ext cx="1436040" cy="320040"/>
                </a:xfrm>
                <a:prstGeom prst="arc">
                  <a:avLst>
                    <a:gd name="adj1" fmla="val 10757436"/>
                    <a:gd name="adj2" fmla="val 0"/>
                  </a:avLst>
                </a:prstGeom>
                <a:noFill/>
                <a:ln w="38160">
                  <a:solidFill>
                    <a:srgbClr val="d9d9c0"/>
                  </a:solidFill>
                  <a:round/>
                </a:ln>
              </p:spPr>
              <p:txBody>
                <a:bodyPr lIns="109080" rIns="109080" tIns="64080" bIns="6408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  <p:sp>
              <p:nvSpPr>
                <p:cNvPr id="23" name=""/>
                <p:cNvSpPr/>
                <p:nvPr/>
              </p:nvSpPr>
              <p:spPr>
                <a:xfrm>
                  <a:off x="623160" y="4456440"/>
                  <a:ext cx="1436040" cy="320400"/>
                </a:xfrm>
                <a:prstGeom prst="arc">
                  <a:avLst>
                    <a:gd name="adj1" fmla="val 10757388"/>
                    <a:gd name="adj2" fmla="val 0"/>
                  </a:avLst>
                </a:prstGeom>
                <a:noFill/>
                <a:ln cap="rnd" w="38160">
                  <a:solidFill>
                    <a:srgbClr val="d9d9c0"/>
                  </a:solidFill>
                  <a:prstDash val="dash"/>
                  <a:round/>
                </a:ln>
              </p:spPr>
              <p:txBody>
                <a:bodyPr lIns="109080" rIns="109080" tIns="64080" bIns="6408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</p:grpSp>
          <p:sp>
            <p:nvSpPr>
              <p:cNvPr id="24" name=""/>
              <p:cNvSpPr/>
              <p:nvPr/>
            </p:nvSpPr>
            <p:spPr>
              <a:xfrm flipV="1">
                <a:off x="1341000" y="3899520"/>
                <a:ext cx="0" cy="726120"/>
              </a:xfrm>
              <a:prstGeom prst="line">
                <a:avLst/>
              </a:prstGeom>
              <a:ln w="38160">
                <a:solidFill>
                  <a:srgbClr val="d9d9c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720" rIns="108720" tIns="63720" bIns="6372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CMU Serif"/>
                </a:endParaRPr>
              </a:p>
            </p:txBody>
          </p:sp>
        </p:grpSp>
        <p:grpSp>
          <p:nvGrpSpPr>
            <p:cNvPr id="25" name=""/>
            <p:cNvGrpSpPr/>
            <p:nvPr/>
          </p:nvGrpSpPr>
          <p:grpSpPr>
            <a:xfrm>
              <a:off x="2304360" y="3899520"/>
              <a:ext cx="1436040" cy="1436040"/>
              <a:chOff x="2304360" y="3899520"/>
              <a:chExt cx="1436040" cy="1436040"/>
            </a:xfrm>
          </p:grpSpPr>
          <p:grpSp>
            <p:nvGrpSpPr>
              <p:cNvPr id="26" name=""/>
              <p:cNvGrpSpPr/>
              <p:nvPr/>
            </p:nvGrpSpPr>
            <p:grpSpPr>
              <a:xfrm>
                <a:off x="2304360" y="3899520"/>
                <a:ext cx="1436040" cy="1436040"/>
                <a:chOff x="2304360" y="3899520"/>
                <a:chExt cx="1436040" cy="1436040"/>
              </a:xfrm>
            </p:grpSpPr>
            <p:sp>
              <p:nvSpPr>
                <p:cNvPr id="27" name=""/>
                <p:cNvSpPr/>
                <p:nvPr/>
              </p:nvSpPr>
              <p:spPr>
                <a:xfrm>
                  <a:off x="2304360" y="3899520"/>
                  <a:ext cx="1436040" cy="1436040"/>
                </a:xfrm>
                <a:prstGeom prst="ellipse">
                  <a:avLst/>
                </a:prstGeom>
                <a:noFill/>
                <a:ln w="38160">
                  <a:solidFill>
                    <a:srgbClr val="d9d9c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720" rIns="108720" tIns="63720" bIns="6372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  <p:sp>
              <p:nvSpPr>
                <p:cNvPr id="28" name=""/>
                <p:cNvSpPr/>
                <p:nvPr/>
              </p:nvSpPr>
              <p:spPr>
                <a:xfrm rot="10800000">
                  <a:off x="2304360" y="4449960"/>
                  <a:ext cx="1436040" cy="320040"/>
                </a:xfrm>
                <a:prstGeom prst="arc">
                  <a:avLst>
                    <a:gd name="adj1" fmla="val 10757436"/>
                    <a:gd name="adj2" fmla="val 0"/>
                  </a:avLst>
                </a:prstGeom>
                <a:noFill/>
                <a:ln w="38160">
                  <a:solidFill>
                    <a:srgbClr val="d9d9c0"/>
                  </a:solidFill>
                  <a:round/>
                </a:ln>
              </p:spPr>
              <p:txBody>
                <a:bodyPr lIns="109080" rIns="109080" tIns="64080" bIns="6408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  <p:sp>
              <p:nvSpPr>
                <p:cNvPr id="29" name=""/>
                <p:cNvSpPr/>
                <p:nvPr/>
              </p:nvSpPr>
              <p:spPr>
                <a:xfrm>
                  <a:off x="2304360" y="4456440"/>
                  <a:ext cx="1436040" cy="320400"/>
                </a:xfrm>
                <a:prstGeom prst="arc">
                  <a:avLst>
                    <a:gd name="adj1" fmla="val 10757388"/>
                    <a:gd name="adj2" fmla="val 0"/>
                  </a:avLst>
                </a:prstGeom>
                <a:noFill/>
                <a:ln cap="rnd" w="38160">
                  <a:solidFill>
                    <a:srgbClr val="d9d9c0"/>
                  </a:solidFill>
                  <a:prstDash val="dash"/>
                  <a:round/>
                </a:ln>
              </p:spPr>
              <p:txBody>
                <a:bodyPr lIns="109080" rIns="109080" tIns="64080" bIns="6408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</p:grpSp>
          <p:sp>
            <p:nvSpPr>
              <p:cNvPr id="30" name=""/>
              <p:cNvSpPr/>
              <p:nvPr/>
            </p:nvSpPr>
            <p:spPr>
              <a:xfrm flipV="1">
                <a:off x="3022560" y="3899520"/>
                <a:ext cx="0" cy="726120"/>
              </a:xfrm>
              <a:prstGeom prst="line">
                <a:avLst/>
              </a:prstGeom>
              <a:ln w="38160">
                <a:solidFill>
                  <a:srgbClr val="d9d9c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720" rIns="108720" tIns="63720" bIns="6372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CMU Serif"/>
                </a:endParaRPr>
              </a:p>
            </p:txBody>
          </p:sp>
        </p:grpSp>
        <p:grpSp>
          <p:nvGrpSpPr>
            <p:cNvPr id="31" name=""/>
            <p:cNvGrpSpPr/>
            <p:nvPr/>
          </p:nvGrpSpPr>
          <p:grpSpPr>
            <a:xfrm>
              <a:off x="3949920" y="3899520"/>
              <a:ext cx="1436040" cy="1436040"/>
              <a:chOff x="3949920" y="3899520"/>
              <a:chExt cx="1436040" cy="1436040"/>
            </a:xfrm>
          </p:grpSpPr>
          <p:grpSp>
            <p:nvGrpSpPr>
              <p:cNvPr id="32" name=""/>
              <p:cNvGrpSpPr/>
              <p:nvPr/>
            </p:nvGrpSpPr>
            <p:grpSpPr>
              <a:xfrm>
                <a:off x="3949920" y="3899520"/>
                <a:ext cx="1436040" cy="1436040"/>
                <a:chOff x="3949920" y="3899520"/>
                <a:chExt cx="1436040" cy="1436040"/>
              </a:xfrm>
            </p:grpSpPr>
            <p:sp>
              <p:nvSpPr>
                <p:cNvPr id="33" name=""/>
                <p:cNvSpPr/>
                <p:nvPr/>
              </p:nvSpPr>
              <p:spPr>
                <a:xfrm>
                  <a:off x="3949920" y="3899520"/>
                  <a:ext cx="1436040" cy="1436040"/>
                </a:xfrm>
                <a:prstGeom prst="ellipse">
                  <a:avLst/>
                </a:prstGeom>
                <a:noFill/>
                <a:ln w="38160">
                  <a:solidFill>
                    <a:srgbClr val="d9d9c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720" rIns="108720" tIns="63720" bIns="6372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  <p:sp>
              <p:nvSpPr>
                <p:cNvPr id="34" name=""/>
                <p:cNvSpPr/>
                <p:nvPr/>
              </p:nvSpPr>
              <p:spPr>
                <a:xfrm rot="10800000">
                  <a:off x="3949920" y="4449960"/>
                  <a:ext cx="1436040" cy="320040"/>
                </a:xfrm>
                <a:prstGeom prst="arc">
                  <a:avLst>
                    <a:gd name="adj1" fmla="val 10757436"/>
                    <a:gd name="adj2" fmla="val 0"/>
                  </a:avLst>
                </a:prstGeom>
                <a:noFill/>
                <a:ln w="38160">
                  <a:solidFill>
                    <a:srgbClr val="d9d9c0"/>
                  </a:solidFill>
                  <a:round/>
                </a:ln>
              </p:spPr>
              <p:txBody>
                <a:bodyPr lIns="109080" rIns="109080" tIns="64080" bIns="6408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  <p:sp>
              <p:nvSpPr>
                <p:cNvPr id="35" name=""/>
                <p:cNvSpPr/>
                <p:nvPr/>
              </p:nvSpPr>
              <p:spPr>
                <a:xfrm>
                  <a:off x="3949920" y="4456440"/>
                  <a:ext cx="1436040" cy="320400"/>
                </a:xfrm>
                <a:prstGeom prst="arc">
                  <a:avLst>
                    <a:gd name="adj1" fmla="val 10757388"/>
                    <a:gd name="adj2" fmla="val 0"/>
                  </a:avLst>
                </a:prstGeom>
                <a:noFill/>
                <a:ln cap="rnd" w="38160">
                  <a:solidFill>
                    <a:srgbClr val="d9d9c0"/>
                  </a:solidFill>
                  <a:prstDash val="dash"/>
                  <a:round/>
                </a:ln>
              </p:spPr>
              <p:txBody>
                <a:bodyPr lIns="109080" rIns="109080" tIns="64080" bIns="6408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</p:grpSp>
          <p:sp>
            <p:nvSpPr>
              <p:cNvPr id="36" name=""/>
              <p:cNvSpPr/>
              <p:nvPr/>
            </p:nvSpPr>
            <p:spPr>
              <a:xfrm flipV="1">
                <a:off x="4667760" y="3899520"/>
                <a:ext cx="0" cy="726120"/>
              </a:xfrm>
              <a:prstGeom prst="line">
                <a:avLst/>
              </a:prstGeom>
              <a:ln w="38160">
                <a:solidFill>
                  <a:srgbClr val="d9d9c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720" rIns="108720" tIns="63720" bIns="6372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CMU Serif"/>
                </a:endParaRPr>
              </a:p>
            </p:txBody>
          </p:sp>
        </p:grpSp>
      </p:grpSp>
      <p:sp>
        <p:nvSpPr>
          <p:cNvPr id="37" name=""/>
          <p:cNvSpPr/>
          <p:nvPr/>
        </p:nvSpPr>
        <p:spPr>
          <a:xfrm flipH="1">
            <a:off x="3021840" y="3349800"/>
            <a:ext cx="7920" cy="334800"/>
          </a:xfrm>
          <a:prstGeom prst="line">
            <a:avLst/>
          </a:prstGeom>
          <a:ln w="76320">
            <a:solidFill>
              <a:srgbClr val="729fc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8160" rIns="128160" tIns="83160" bIns="8316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grpSp>
        <p:nvGrpSpPr>
          <p:cNvPr id="38" name=""/>
          <p:cNvGrpSpPr/>
          <p:nvPr/>
        </p:nvGrpSpPr>
        <p:grpSpPr>
          <a:xfrm>
            <a:off x="7218360" y="1352160"/>
            <a:ext cx="1436400" cy="1436040"/>
            <a:chOff x="7218360" y="1352160"/>
            <a:chExt cx="1436400" cy="1436040"/>
          </a:xfrm>
        </p:grpSpPr>
        <p:grpSp>
          <p:nvGrpSpPr>
            <p:cNvPr id="39" name=""/>
            <p:cNvGrpSpPr/>
            <p:nvPr/>
          </p:nvGrpSpPr>
          <p:grpSpPr>
            <a:xfrm>
              <a:off x="7218360" y="1352160"/>
              <a:ext cx="1436400" cy="1436040"/>
              <a:chOff x="7218360" y="1352160"/>
              <a:chExt cx="1436400" cy="1436040"/>
            </a:xfrm>
          </p:grpSpPr>
          <p:sp>
            <p:nvSpPr>
              <p:cNvPr id="40" name=""/>
              <p:cNvSpPr/>
              <p:nvPr/>
            </p:nvSpPr>
            <p:spPr>
              <a:xfrm>
                <a:off x="7218360" y="1352160"/>
                <a:ext cx="1436400" cy="1436040"/>
              </a:xfrm>
              <a:prstGeom prst="ellipse">
                <a:avLst/>
              </a:prstGeom>
              <a:noFill/>
              <a:ln w="38160">
                <a:solidFill>
                  <a:srgbClr val="d9d9c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720" rIns="108720" tIns="63720" bIns="6372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CMU Serif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 rot="10800000">
                <a:off x="7218360" y="1902600"/>
                <a:ext cx="1436400" cy="320400"/>
              </a:xfrm>
              <a:prstGeom prst="arc">
                <a:avLst>
                  <a:gd name="adj1" fmla="val 10757399"/>
                  <a:gd name="adj2" fmla="val 0"/>
                </a:avLst>
              </a:prstGeom>
              <a:noFill/>
              <a:ln w="38160">
                <a:solidFill>
                  <a:srgbClr val="d9d9c0"/>
                </a:solidFill>
                <a:round/>
              </a:ln>
            </p:spPr>
            <p:txBody>
              <a:bodyPr lIns="109080" rIns="109080" tIns="64080" bIns="6408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CMU Serif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>
                <a:off x="7218360" y="1909080"/>
                <a:ext cx="1436400" cy="320400"/>
              </a:xfrm>
              <a:prstGeom prst="arc">
                <a:avLst>
                  <a:gd name="adj1" fmla="val 10757399"/>
                  <a:gd name="adj2" fmla="val 0"/>
                </a:avLst>
              </a:prstGeom>
              <a:noFill/>
              <a:ln cap="rnd" w="38160">
                <a:solidFill>
                  <a:srgbClr val="d9d9c0"/>
                </a:solidFill>
                <a:prstDash val="dash"/>
                <a:round/>
              </a:ln>
            </p:spPr>
            <p:txBody>
              <a:bodyPr lIns="109080" rIns="109080" tIns="64080" bIns="6408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CMU Serif"/>
                </a:endParaRPr>
              </a:p>
            </p:txBody>
          </p:sp>
        </p:grpSp>
        <p:sp>
          <p:nvSpPr>
            <p:cNvPr id="43" name=""/>
            <p:cNvSpPr/>
            <p:nvPr/>
          </p:nvSpPr>
          <p:spPr>
            <a:xfrm flipV="1">
              <a:off x="7936560" y="1352160"/>
              <a:ext cx="0" cy="726120"/>
            </a:xfrm>
            <a:prstGeom prst="line">
              <a:avLst/>
            </a:prstGeom>
            <a:ln w="38160">
              <a:solidFill>
                <a:srgbClr val="d9d9c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108720" rIns="108720" tIns="63720" bIns="6372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CMU Serif"/>
              </a:endParaRPr>
            </a:p>
          </p:txBody>
        </p:sp>
      </p:grpSp>
      <p:sp>
        <p:nvSpPr>
          <p:cNvPr id="44" name=""/>
          <p:cNvSpPr/>
          <p:nvPr/>
        </p:nvSpPr>
        <p:spPr>
          <a:xfrm flipH="1">
            <a:off x="7932240" y="2968200"/>
            <a:ext cx="7920" cy="334800"/>
          </a:xfrm>
          <a:prstGeom prst="line">
            <a:avLst/>
          </a:prstGeom>
          <a:ln w="76320">
            <a:solidFill>
              <a:srgbClr val="729fc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8160" rIns="128160" tIns="83160" bIns="8316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690240" y="3346920"/>
            <a:ext cx="2409120" cy="2130120"/>
          </a:xfrm>
          <a:prstGeom prst="rect">
            <a:avLst/>
          </a:prstGeom>
          <a:ln w="0">
            <a:noFill/>
          </a:ln>
        </p:spPr>
      </p:pic>
      <p:sp>
        <p:nvSpPr>
          <p:cNvPr id="46" name=""/>
          <p:cNvSpPr txBox="1"/>
          <p:nvPr/>
        </p:nvSpPr>
        <p:spPr>
          <a:xfrm>
            <a:off x="0" y="33120"/>
            <a:ext cx="851364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3200" spc="-1" strike="noStrike">
                <a:solidFill>
                  <a:srgbClr val="d9d9ce"/>
                </a:solidFill>
                <a:latin typeface="CMU Serif"/>
              </a:rPr>
              <a:t>Codes de correction d’erreurs </a:t>
            </a:r>
            <a:endParaRPr b="0" lang="en-US" sz="32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47" name=""/>
          <p:cNvSpPr/>
          <p:nvPr/>
        </p:nvSpPr>
        <p:spPr>
          <a:xfrm flipH="1">
            <a:off x="7932600" y="2968560"/>
            <a:ext cx="7920" cy="334800"/>
          </a:xfrm>
          <a:prstGeom prst="line">
            <a:avLst/>
          </a:prstGeom>
          <a:ln w="76320">
            <a:solidFill>
              <a:srgbClr val="729fc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8160" rIns="128160" tIns="83160" bIns="8316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48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690600" y="3347280"/>
            <a:ext cx="2409120" cy="2130120"/>
          </a:xfrm>
          <a:prstGeom prst="rect">
            <a:avLst/>
          </a:prstGeom>
          <a:ln w="0">
            <a:noFill/>
          </a:ln>
        </p:spPr>
      </p:pic>
      <p:sp>
        <p:nvSpPr>
          <p:cNvPr id="49" name=""/>
          <p:cNvSpPr txBox="1"/>
          <p:nvPr/>
        </p:nvSpPr>
        <p:spPr>
          <a:xfrm>
            <a:off x="1771920" y="801000"/>
            <a:ext cx="248508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b3b3a9"/>
                </a:solidFill>
                <a:latin typeface="CMU Serif"/>
                <a:ea typeface="Segoe UI"/>
              </a:rPr>
              <a:t>Codes de qubits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539040" y="801000"/>
            <a:ext cx="311796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b3b3a9"/>
                </a:solidFill>
                <a:latin typeface="CMU Serif"/>
                <a:ea typeface="Segoe UI"/>
              </a:rPr>
              <a:t>Codes bosoniques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1"/>
          <p:nvPr/>
        </p:nvSpPr>
        <p:spPr>
          <a:xfrm>
            <a:off x="0" y="0"/>
            <a:ext cx="851364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3200" spc="-1" strike="noStrike">
                <a:solidFill>
                  <a:srgbClr val="d9d9ce"/>
                </a:solidFill>
                <a:latin typeface="CMU Serif"/>
              </a:rPr>
              <a:t>Systèmes avec plusieurs cavités</a:t>
            </a:r>
            <a:endParaRPr b="0" lang="en-US" sz="32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549080" y="3513240"/>
            <a:ext cx="7031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b3b3a9"/>
                </a:solidFill>
                <a:latin typeface="CMU Serif"/>
                <a:ea typeface="Segoe UI"/>
              </a:rPr>
              <a:t>Oscillateur harmonique → espace de Hilbert ∞ 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grpSp>
        <p:nvGrpSpPr>
          <p:cNvPr id="53" name=""/>
          <p:cNvGrpSpPr/>
          <p:nvPr/>
        </p:nvGrpSpPr>
        <p:grpSpPr>
          <a:xfrm>
            <a:off x="3447360" y="4093920"/>
            <a:ext cx="3234600" cy="523080"/>
            <a:chOff x="3447360" y="4093920"/>
            <a:chExt cx="3234600" cy="523080"/>
          </a:xfrm>
        </p:grpSpPr>
        <p:pic>
          <p:nvPicPr>
            <p:cNvPr id="54" name="" descr="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/>
          </p:blipFill>
          <p:spPr>
            <a:xfrm>
              <a:off x="5384520" y="4173480"/>
              <a:ext cx="1297440" cy="291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5" name=""/>
            <p:cNvSpPr txBox="1"/>
            <p:nvPr/>
          </p:nvSpPr>
          <p:spPr>
            <a:xfrm>
              <a:off x="3447360" y="4093920"/>
              <a:ext cx="1899720" cy="5230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b3b3a9"/>
                  </a:solidFill>
                  <a:latin typeface="CMU Serif"/>
                  <a:ea typeface="Segoe UI"/>
                </a:rPr>
                <a:t>En pratique</a:t>
              </a:r>
              <a:endParaRPr b="0" lang="en-US" sz="2600" spc="-1" strike="noStrike">
                <a:solidFill>
                  <a:srgbClr val="ffffff"/>
                </a:solidFill>
                <a:latin typeface="CMU Serif"/>
              </a:endParaRPr>
            </a:p>
          </p:txBody>
        </p:sp>
      </p:grpSp>
      <p:sp>
        <p:nvSpPr>
          <p:cNvPr id="56" name=""/>
          <p:cNvSpPr txBox="1"/>
          <p:nvPr/>
        </p:nvSpPr>
        <p:spPr>
          <a:xfrm>
            <a:off x="1549080" y="3513600"/>
            <a:ext cx="7031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b3b3a9"/>
                </a:solidFill>
                <a:latin typeface="CMU Serif"/>
                <a:ea typeface="Segoe UI"/>
              </a:rPr>
              <a:t>Oscillateur harmonique → espace de Hilbert ∞ 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grpSp>
        <p:nvGrpSpPr>
          <p:cNvPr id="57" name=""/>
          <p:cNvGrpSpPr/>
          <p:nvPr/>
        </p:nvGrpSpPr>
        <p:grpSpPr>
          <a:xfrm>
            <a:off x="923400" y="4722840"/>
            <a:ext cx="8282160" cy="523080"/>
            <a:chOff x="923400" y="4722840"/>
            <a:chExt cx="8282160" cy="523080"/>
          </a:xfrm>
        </p:grpSpPr>
        <p:sp>
          <p:nvSpPr>
            <p:cNvPr id="58" name=""/>
            <p:cNvSpPr txBox="1"/>
            <p:nvPr/>
          </p:nvSpPr>
          <p:spPr>
            <a:xfrm>
              <a:off x="923400" y="4722840"/>
              <a:ext cx="6535800" cy="5230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b3b3a9"/>
                  </a:solidFill>
                  <a:latin typeface="CMU Serif"/>
                  <a:ea typeface="Segoe UI"/>
                </a:rPr>
                <a:t>Pour n qubits, notre vecteur d’état contiens</a:t>
              </a:r>
              <a:endParaRPr b="0" lang="en-US" sz="2600" spc="-1" strike="noStrike">
                <a:solidFill>
                  <a:srgbClr val="ffffff"/>
                </a:solidFill>
                <a:latin typeface="CMU Serif"/>
              </a:endParaRPr>
            </a:p>
          </p:txBody>
        </p:sp>
        <p:sp>
          <p:nvSpPr>
            <p:cNvPr id="59" name=""/>
            <p:cNvSpPr txBox="1"/>
            <p:nvPr/>
          </p:nvSpPr>
          <p:spPr>
            <a:xfrm>
              <a:off x="7776720" y="4722840"/>
              <a:ext cx="1428840" cy="5230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b3b3a9"/>
                  </a:solidFill>
                  <a:latin typeface="CMU Serif"/>
                  <a:ea typeface="Segoe UI"/>
                </a:rPr>
                <a:t>elements</a:t>
              </a:r>
              <a:endParaRPr b="0" lang="en-US" sz="2600" spc="-1" strike="noStrike">
                <a:solidFill>
                  <a:srgbClr val="ffffff"/>
                </a:solidFill>
                <a:latin typeface="CMU Serif"/>
              </a:endParaRPr>
            </a:p>
          </p:txBody>
        </p:sp>
        <p:pic>
          <p:nvPicPr>
            <p:cNvPr id="60" name="" descr="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>
              <a:off x="7459200" y="4845600"/>
              <a:ext cx="317520" cy="2268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1" name=""/>
          <p:cNvGrpSpPr/>
          <p:nvPr/>
        </p:nvGrpSpPr>
        <p:grpSpPr>
          <a:xfrm>
            <a:off x="3257280" y="794880"/>
            <a:ext cx="3562200" cy="2591640"/>
            <a:chOff x="3257280" y="794880"/>
            <a:chExt cx="3562200" cy="2591640"/>
          </a:xfrm>
        </p:grpSpPr>
        <p:pic>
          <p:nvPicPr>
            <p:cNvPr id="62" name="" descr="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>
              <a:off x="3257280" y="794880"/>
              <a:ext cx="2931120" cy="2591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3" name="" descr="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>
              <a:off x="6231960" y="1922400"/>
              <a:ext cx="587520" cy="22824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 txBox="1"/>
          <p:nvPr/>
        </p:nvSpPr>
        <p:spPr>
          <a:xfrm>
            <a:off x="4163760" y="2495880"/>
            <a:ext cx="1748880" cy="634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ctr">
            <a:noAutofit/>
          </a:bodyPr>
          <a:p>
            <a:pPr algn="ctr"/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Théorie</a:t>
            </a:r>
            <a:endParaRPr b="0" lang="en-US" sz="3200" spc="-1" strike="noStrike">
              <a:solidFill>
                <a:srgbClr val="ffffff"/>
              </a:solidFill>
              <a:latin typeface="CM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63000" y="0"/>
            <a:ext cx="9897480" cy="452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pPr algn="ctr"/>
            <a:r>
              <a:rPr b="1" lang="en-US" sz="2600" spc="-1" strike="noStrike">
                <a:solidFill>
                  <a:srgbClr val="d9d9ce"/>
                </a:solidFill>
                <a:latin typeface="Noto Sans"/>
              </a:rPr>
              <a:t>La librairie ITensors pour représenter les systèmes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>
            <a:lum bright="-10000" contrast="50000"/>
          </a:blip>
          <a:stretch/>
        </p:blipFill>
        <p:spPr>
          <a:xfrm>
            <a:off x="1262880" y="666000"/>
            <a:ext cx="1668960" cy="1095840"/>
          </a:xfrm>
          <a:prstGeom prst="rect">
            <a:avLst/>
          </a:prstGeom>
          <a:ln w="0">
            <a:noFill/>
          </a:ln>
        </p:spPr>
      </p:pic>
      <p:grpSp>
        <p:nvGrpSpPr>
          <p:cNvPr id="67" name=""/>
          <p:cNvGrpSpPr/>
          <p:nvPr/>
        </p:nvGrpSpPr>
        <p:grpSpPr>
          <a:xfrm>
            <a:off x="1234440" y="1811520"/>
            <a:ext cx="1726200" cy="3344760"/>
            <a:chOff x="1234440" y="1811520"/>
            <a:chExt cx="1726200" cy="3344760"/>
          </a:xfrm>
        </p:grpSpPr>
        <p:pic>
          <p:nvPicPr>
            <p:cNvPr id="68" name="" descr=""/>
            <p:cNvPicPr/>
            <p:nvPr/>
          </p:nvPicPr>
          <p:blipFill>
            <a:blip r:embed="rId2"/>
            <a:srcRect l="7178" t="0" r="9214" b="0"/>
            <a:stretch/>
          </p:blipFill>
          <p:spPr>
            <a:xfrm>
              <a:off x="1234440" y="1811520"/>
              <a:ext cx="1726200" cy="3037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9" name=""/>
            <p:cNvSpPr txBox="1"/>
            <p:nvPr/>
          </p:nvSpPr>
          <p:spPr>
            <a:xfrm>
              <a:off x="1340280" y="4616640"/>
              <a:ext cx="1514160" cy="5396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noAutofit/>
            </a:bodyPr>
            <a:p>
              <a:pPr algn="ctr"/>
              <a:r>
                <a:rPr b="1" lang="en-US" sz="2200" spc="-1" strike="noStrike">
                  <a:solidFill>
                    <a:srgbClr val="ffffff"/>
                  </a:solidFill>
                  <a:latin typeface="Roboto"/>
                </a:rPr>
                <a:t>ITensors.jl</a:t>
              </a:r>
              <a:endParaRPr b="0" lang="en-US" sz="2200" spc="-1" strike="noStrike">
                <a:solidFill>
                  <a:srgbClr val="ffffff"/>
                </a:solidFill>
                <a:latin typeface="CMU Serif"/>
              </a:endParaRPr>
            </a:p>
          </p:txBody>
        </p:sp>
      </p:grpSp>
      <p:sp>
        <p:nvSpPr>
          <p:cNvPr id="70" name=""/>
          <p:cNvSpPr/>
          <p:nvPr/>
        </p:nvSpPr>
        <p:spPr>
          <a:xfrm>
            <a:off x="3766680" y="2852640"/>
            <a:ext cx="725760" cy="0"/>
          </a:xfrm>
          <a:prstGeom prst="line">
            <a:avLst/>
          </a:prstGeom>
          <a:ln w="76320">
            <a:solidFill>
              <a:srgbClr val="d9d9c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7800" rIns="127800" tIns="-82800" bIns="-828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grpSp>
        <p:nvGrpSpPr>
          <p:cNvPr id="71" name=""/>
          <p:cNvGrpSpPr/>
          <p:nvPr/>
        </p:nvGrpSpPr>
        <p:grpSpPr>
          <a:xfrm>
            <a:off x="5058000" y="1152720"/>
            <a:ext cx="4681080" cy="1469160"/>
            <a:chOff x="5058000" y="1152720"/>
            <a:chExt cx="4681080" cy="1469160"/>
          </a:xfrm>
        </p:grpSpPr>
        <p:pic>
          <p:nvPicPr>
            <p:cNvPr id="72" name="" descr=""/>
            <p:cNvPicPr/>
            <p:nvPr/>
          </p:nvPicPr>
          <p:blipFill>
            <a:blip r:embed="rId3"/>
            <a:stretch/>
          </p:blipFill>
          <p:spPr>
            <a:xfrm>
              <a:off x="5690520" y="1602000"/>
              <a:ext cx="3224520" cy="1019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3" name=""/>
            <p:cNvSpPr txBox="1"/>
            <p:nvPr/>
          </p:nvSpPr>
          <p:spPr>
            <a:xfrm>
              <a:off x="5058000" y="1152720"/>
              <a:ext cx="4681080" cy="3891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noAutofit/>
            </a:bodyPr>
            <a:p>
              <a:pPr algn="ctr"/>
              <a:r>
                <a:rPr b="0" lang="en-US" sz="1800" spc="-1" strike="noStrike">
                  <a:solidFill>
                    <a:srgbClr val="d9d9ce"/>
                  </a:solidFill>
                  <a:latin typeface="CMU Serif"/>
                </a:rPr>
                <a:t>Representation d’opérateurs par des tenseurs</a:t>
              </a:r>
              <a:endParaRPr b="0" lang="en-US" sz="1800" spc="-1" strike="noStrike">
                <a:solidFill>
                  <a:srgbClr val="ffffff"/>
                </a:solidFill>
                <a:latin typeface="CMU Serif"/>
              </a:endParaRPr>
            </a:p>
          </p:txBody>
        </p:sp>
      </p:grpSp>
      <p:grpSp>
        <p:nvGrpSpPr>
          <p:cNvPr id="74" name=""/>
          <p:cNvGrpSpPr/>
          <p:nvPr/>
        </p:nvGrpSpPr>
        <p:grpSpPr>
          <a:xfrm>
            <a:off x="4970520" y="3198960"/>
            <a:ext cx="4741920" cy="1469160"/>
            <a:chOff x="4970520" y="3198960"/>
            <a:chExt cx="4741920" cy="1469160"/>
          </a:xfrm>
        </p:grpSpPr>
        <p:pic>
          <p:nvPicPr>
            <p:cNvPr id="75" name="" descr=""/>
            <p:cNvPicPr/>
            <p:nvPr/>
          </p:nvPicPr>
          <p:blipFill>
            <a:blip r:embed="rId4"/>
            <a:stretch/>
          </p:blipFill>
          <p:spPr>
            <a:xfrm>
              <a:off x="6630480" y="3648240"/>
              <a:ext cx="1469880" cy="1019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6" name=""/>
            <p:cNvSpPr txBox="1"/>
            <p:nvPr/>
          </p:nvSpPr>
          <p:spPr>
            <a:xfrm>
              <a:off x="4970520" y="3198960"/>
              <a:ext cx="4741920" cy="3891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noAutofit/>
            </a:bodyPr>
            <a:p>
              <a:pPr algn="ctr"/>
              <a:r>
                <a:rPr b="0" lang="en-US" sz="1800" spc="-1" strike="noStrike">
                  <a:solidFill>
                    <a:srgbClr val="d9d9ce"/>
                  </a:solidFill>
                  <a:latin typeface="CMU Serif"/>
                </a:rPr>
                <a:t>Représentations de systèmes avec MPS/MPO</a:t>
              </a:r>
              <a:endParaRPr b="0" lang="en-US" sz="1800" spc="-1" strike="noStrike">
                <a:solidFill>
                  <a:srgbClr val="ffffff"/>
                </a:solidFill>
                <a:latin typeface="CMU Serif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 txBox="1"/>
          <p:nvPr/>
        </p:nvSpPr>
        <p:spPr>
          <a:xfrm>
            <a:off x="63720" y="360"/>
            <a:ext cx="9897480" cy="902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pPr algn="ctr"/>
            <a:r>
              <a:rPr b="1" lang="en-US" sz="2600" spc="-1" strike="noStrike">
                <a:solidFill>
                  <a:srgbClr val="d9d9ce"/>
                </a:solidFill>
                <a:latin typeface="Noto Sans"/>
              </a:rPr>
              <a:t>Les décompositions en valeurs singulières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53240" y="380880"/>
            <a:ext cx="5794200" cy="452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00" spc="-1" strike="noStrike">
                <a:solidFill>
                  <a:srgbClr val="b3b3a9"/>
                </a:solidFill>
                <a:latin typeface="Noto Sans"/>
              </a:rPr>
              <a:t>MPS/Tensor Trains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grpSp>
        <p:nvGrpSpPr>
          <p:cNvPr id="79" name=""/>
          <p:cNvGrpSpPr/>
          <p:nvPr/>
        </p:nvGrpSpPr>
        <p:grpSpPr>
          <a:xfrm>
            <a:off x="1505160" y="1563480"/>
            <a:ext cx="2121120" cy="1035360"/>
            <a:chOff x="1505160" y="1563480"/>
            <a:chExt cx="2121120" cy="1035360"/>
          </a:xfrm>
        </p:grpSpPr>
        <p:sp>
          <p:nvSpPr>
            <p:cNvPr id="80" name=""/>
            <p:cNvSpPr/>
            <p:nvPr/>
          </p:nvSpPr>
          <p:spPr>
            <a:xfrm>
              <a:off x="1505160" y="1949040"/>
              <a:ext cx="2121120" cy="649800"/>
            </a:xfrm>
            <a:prstGeom prst="roundRect">
              <a:avLst>
                <a:gd name="adj" fmla="val 50000"/>
              </a:avLst>
            </a:prstGeom>
            <a:solidFill>
              <a:srgbClr val="729fcf"/>
            </a:solidFill>
            <a:ln w="38160">
              <a:solidFill>
                <a:srgbClr val="d9d9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9080" rIns="109080" tIns="64080" bIns="640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MU Serif"/>
              </a:endParaRPr>
            </a:p>
          </p:txBody>
        </p:sp>
        <p:grpSp>
          <p:nvGrpSpPr>
            <p:cNvPr id="81" name=""/>
            <p:cNvGrpSpPr/>
            <p:nvPr/>
          </p:nvGrpSpPr>
          <p:grpSpPr>
            <a:xfrm>
              <a:off x="2022120" y="1563480"/>
              <a:ext cx="1086840" cy="385560"/>
              <a:chOff x="2022120" y="1563480"/>
              <a:chExt cx="1086840" cy="385560"/>
            </a:xfrm>
          </p:grpSpPr>
          <p:sp>
            <p:nvSpPr>
              <p:cNvPr id="82" name=""/>
              <p:cNvSpPr/>
              <p:nvPr/>
            </p:nvSpPr>
            <p:spPr>
              <a:xfrm>
                <a:off x="2022120" y="1563480"/>
                <a:ext cx="0" cy="385560"/>
              </a:xfrm>
              <a:prstGeom prst="line">
                <a:avLst/>
              </a:prstGeom>
              <a:ln w="38160">
                <a:solidFill>
                  <a:srgbClr val="d9d9c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9080" rIns="109080" tIns="64080" bIns="6408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CMU Serif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3108960" y="1563480"/>
                <a:ext cx="0" cy="385560"/>
              </a:xfrm>
              <a:prstGeom prst="line">
                <a:avLst/>
              </a:prstGeom>
              <a:ln w="38160">
                <a:solidFill>
                  <a:srgbClr val="d9d9c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9080" rIns="109080" tIns="64080" bIns="6408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CMU Serif"/>
                </a:endParaRPr>
              </a:p>
            </p:txBody>
          </p:sp>
        </p:grpSp>
      </p:grpSp>
      <p:sp>
        <p:nvSpPr>
          <p:cNvPr id="84" name=""/>
          <p:cNvSpPr txBox="1"/>
          <p:nvPr/>
        </p:nvSpPr>
        <p:spPr>
          <a:xfrm>
            <a:off x="3750480" y="2001240"/>
            <a:ext cx="436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=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85" name=""/>
          <p:cNvSpPr/>
          <p:nvPr/>
        </p:nvSpPr>
        <p:spPr>
          <a:xfrm rot="42600">
            <a:off x="4288320" y="1925640"/>
            <a:ext cx="642240" cy="645480"/>
          </a:xfrm>
          <a:prstGeom prst="ellipse">
            <a:avLst/>
          </a:prstGeom>
          <a:solidFill>
            <a:srgbClr val="cf72b7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4591800" y="1520640"/>
            <a:ext cx="34200" cy="416520"/>
          </a:xfrm>
          <a:prstGeom prst="rect">
            <a:avLst/>
          </a:prstGeom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 rot="5400000">
            <a:off x="5125680" y="2030400"/>
            <a:ext cx="34200" cy="416520"/>
          </a:xfrm>
          <a:prstGeom prst="rect">
            <a:avLst/>
          </a:prstGeom>
          <a:ln w="0">
            <a:noFill/>
          </a:ln>
        </p:spPr>
      </p:pic>
      <p:sp>
        <p:nvSpPr>
          <p:cNvPr id="88" name=""/>
          <p:cNvSpPr/>
          <p:nvPr/>
        </p:nvSpPr>
        <p:spPr>
          <a:xfrm>
            <a:off x="5302080" y="1907640"/>
            <a:ext cx="651240" cy="651240"/>
          </a:xfrm>
          <a:prstGeom prst="rect">
            <a:avLst/>
          </a:prstGeom>
          <a:solidFill>
            <a:srgbClr val="729fcf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MU Serif"/>
            </a:endParaRPr>
          </a:p>
        </p:txBody>
      </p:sp>
      <p:pic>
        <p:nvPicPr>
          <p:cNvPr id="89" name="" descr=""/>
          <p:cNvPicPr/>
          <p:nvPr/>
        </p:nvPicPr>
        <p:blipFill>
          <a:blip r:embed="rId3"/>
          <a:stretch/>
        </p:blipFill>
        <p:spPr>
          <a:xfrm rot="5400000">
            <a:off x="6144120" y="2045160"/>
            <a:ext cx="34560" cy="416520"/>
          </a:xfrm>
          <a:prstGeom prst="rect">
            <a:avLst/>
          </a:prstGeom>
          <a:ln w="0">
            <a:noFill/>
          </a:ln>
        </p:spPr>
      </p:pic>
      <p:sp>
        <p:nvSpPr>
          <p:cNvPr id="90" name=""/>
          <p:cNvSpPr/>
          <p:nvPr/>
        </p:nvSpPr>
        <p:spPr>
          <a:xfrm rot="42600">
            <a:off x="6356160" y="1932840"/>
            <a:ext cx="642600" cy="645120"/>
          </a:xfrm>
          <a:prstGeom prst="ellipse">
            <a:avLst/>
          </a:prstGeom>
          <a:solidFill>
            <a:srgbClr val="d99a8d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MU Serif"/>
            </a:endParaRPr>
          </a:p>
        </p:txBody>
      </p:sp>
      <p:pic>
        <p:nvPicPr>
          <p:cNvPr id="91" name="" descr=""/>
          <p:cNvPicPr/>
          <p:nvPr/>
        </p:nvPicPr>
        <p:blipFill>
          <a:blip r:embed="rId4"/>
          <a:stretch/>
        </p:blipFill>
        <p:spPr>
          <a:xfrm>
            <a:off x="6660360" y="1527120"/>
            <a:ext cx="34200" cy="416880"/>
          </a:xfrm>
          <a:prstGeom prst="rect">
            <a:avLst/>
          </a:prstGeom>
          <a:ln w="0">
            <a:noFill/>
          </a:ln>
        </p:spPr>
      </p:pic>
      <p:sp>
        <p:nvSpPr>
          <p:cNvPr id="92" name=""/>
          <p:cNvSpPr txBox="1"/>
          <p:nvPr/>
        </p:nvSpPr>
        <p:spPr>
          <a:xfrm>
            <a:off x="1898640" y="1071000"/>
            <a:ext cx="272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i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978280" y="1071000"/>
            <a:ext cx="281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j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493160" y="1108440"/>
            <a:ext cx="272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i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561720" y="1108440"/>
            <a:ext cx="281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j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4417200" y="2038680"/>
            <a:ext cx="427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U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5437080" y="2031120"/>
            <a:ext cx="4017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S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98" name=""/>
          <p:cNvSpPr/>
          <p:nvPr/>
        </p:nvSpPr>
        <p:spPr>
          <a:xfrm rot="42600">
            <a:off x="7758360" y="1937160"/>
            <a:ext cx="642240" cy="645480"/>
          </a:xfrm>
          <a:prstGeom prst="ellipse">
            <a:avLst/>
          </a:prstGeom>
          <a:solidFill>
            <a:srgbClr val="cf72b7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99" name="" descr=""/>
          <p:cNvPicPr/>
          <p:nvPr/>
        </p:nvPicPr>
        <p:blipFill>
          <a:blip r:embed="rId5"/>
          <a:stretch/>
        </p:blipFill>
        <p:spPr>
          <a:xfrm>
            <a:off x="8061840" y="1532160"/>
            <a:ext cx="34200" cy="416520"/>
          </a:xfrm>
          <a:prstGeom prst="rect">
            <a:avLst/>
          </a:prstGeom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6"/>
          <a:stretch/>
        </p:blipFill>
        <p:spPr>
          <a:xfrm rot="5400000">
            <a:off x="8595720" y="2041920"/>
            <a:ext cx="34200" cy="4165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 rot="42600">
            <a:off x="8825400" y="1937520"/>
            <a:ext cx="642600" cy="645120"/>
          </a:xfrm>
          <a:prstGeom prst="ellipse">
            <a:avLst/>
          </a:prstGeom>
          <a:solidFill>
            <a:srgbClr val="d99a8d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MU Serif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7"/>
          <a:stretch/>
        </p:blipFill>
        <p:spPr>
          <a:xfrm>
            <a:off x="9129600" y="1531800"/>
            <a:ext cx="34200" cy="41688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 txBox="1"/>
          <p:nvPr/>
        </p:nvSpPr>
        <p:spPr>
          <a:xfrm>
            <a:off x="7963200" y="1119960"/>
            <a:ext cx="272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i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9030960" y="1113120"/>
            <a:ext cx="281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j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7887240" y="2050200"/>
            <a:ext cx="427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U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7150680" y="1965960"/>
            <a:ext cx="436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=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grpSp>
        <p:nvGrpSpPr>
          <p:cNvPr id="107" name=""/>
          <p:cNvGrpSpPr/>
          <p:nvPr/>
        </p:nvGrpSpPr>
        <p:grpSpPr>
          <a:xfrm>
            <a:off x="8916120" y="2043360"/>
            <a:ext cx="427680" cy="543600"/>
            <a:chOff x="8916120" y="2043360"/>
            <a:chExt cx="427680" cy="543600"/>
          </a:xfrm>
        </p:grpSpPr>
        <p:sp>
          <p:nvSpPr>
            <p:cNvPr id="108" name=""/>
            <p:cNvSpPr txBox="1"/>
            <p:nvPr/>
          </p:nvSpPr>
          <p:spPr>
            <a:xfrm>
              <a:off x="8916120" y="2063880"/>
              <a:ext cx="427680" cy="5230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noAutofit/>
            </a:bodyPr>
            <a:p>
              <a:pPr algn="ctr"/>
              <a:r>
                <a:rPr b="0" lang="en-US" sz="2600" spc="-1" strike="noStrike">
                  <a:solidFill>
                    <a:srgbClr val="d9d9ce"/>
                  </a:solidFill>
                  <a:latin typeface="CMU Serif"/>
                </a:rPr>
                <a:t>V</a:t>
              </a:r>
              <a:endParaRPr b="0" lang="en-US" sz="2600" spc="-1" strike="noStrike">
                <a:solidFill>
                  <a:srgbClr val="ffffff"/>
                </a:solidFill>
                <a:latin typeface="CMU Serif"/>
              </a:endParaRPr>
            </a:p>
          </p:txBody>
        </p:sp>
        <p:pic>
          <p:nvPicPr>
            <p:cNvPr id="109" name="" descr=""/>
            <p:cNvPicPr/>
            <p:nvPr/>
          </p:nvPicPr>
          <p:blipFill>
            <a:blip r:embed="rId8"/>
            <a:stretch/>
          </p:blipFill>
          <p:spPr>
            <a:xfrm>
              <a:off x="9229320" y="2043360"/>
              <a:ext cx="86400" cy="2275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10" name=""/>
          <p:cNvGrpSpPr/>
          <p:nvPr/>
        </p:nvGrpSpPr>
        <p:grpSpPr>
          <a:xfrm>
            <a:off x="6467040" y="2043360"/>
            <a:ext cx="427680" cy="543600"/>
            <a:chOff x="6467040" y="2043360"/>
            <a:chExt cx="427680" cy="543600"/>
          </a:xfrm>
        </p:grpSpPr>
        <p:sp>
          <p:nvSpPr>
            <p:cNvPr id="111" name=""/>
            <p:cNvSpPr txBox="1"/>
            <p:nvPr/>
          </p:nvSpPr>
          <p:spPr>
            <a:xfrm>
              <a:off x="6467040" y="2063880"/>
              <a:ext cx="427680" cy="5230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noAutofit/>
            </a:bodyPr>
            <a:p>
              <a:pPr algn="ctr"/>
              <a:r>
                <a:rPr b="0" lang="en-US" sz="2600" spc="-1" strike="noStrike">
                  <a:solidFill>
                    <a:srgbClr val="d9d9ce"/>
                  </a:solidFill>
                  <a:latin typeface="CMU Serif"/>
                </a:rPr>
                <a:t>V</a:t>
              </a:r>
              <a:endParaRPr b="0" lang="en-US" sz="2600" spc="-1" strike="noStrike">
                <a:solidFill>
                  <a:srgbClr val="ffffff"/>
                </a:solidFill>
                <a:latin typeface="CMU Serif"/>
              </a:endParaRPr>
            </a:p>
          </p:txBody>
        </p:sp>
        <p:pic>
          <p:nvPicPr>
            <p:cNvPr id="112" name="" descr=""/>
            <p:cNvPicPr/>
            <p:nvPr/>
          </p:nvPicPr>
          <p:blipFill>
            <a:blip r:embed="rId9"/>
            <a:stretch/>
          </p:blipFill>
          <p:spPr>
            <a:xfrm>
              <a:off x="6780240" y="2043360"/>
              <a:ext cx="86400" cy="22752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13" name="" descr=""/>
          <p:cNvPicPr/>
          <p:nvPr/>
        </p:nvPicPr>
        <p:blipFill>
          <a:blip r:embed="rId10"/>
          <a:stretch/>
        </p:blipFill>
        <p:spPr>
          <a:xfrm>
            <a:off x="9328320" y="2095200"/>
            <a:ext cx="66960" cy="129600"/>
          </a:xfrm>
          <a:prstGeom prst="rect">
            <a:avLst/>
          </a:prstGeom>
          <a:ln w="0">
            <a:noFill/>
          </a:ln>
        </p:spPr>
      </p:pic>
      <p:grpSp>
        <p:nvGrpSpPr>
          <p:cNvPr id="114" name=""/>
          <p:cNvGrpSpPr/>
          <p:nvPr/>
        </p:nvGrpSpPr>
        <p:grpSpPr>
          <a:xfrm>
            <a:off x="1441080" y="3984120"/>
            <a:ext cx="6615000" cy="1132200"/>
            <a:chOff x="1441080" y="3984120"/>
            <a:chExt cx="6615000" cy="1132200"/>
          </a:xfrm>
        </p:grpSpPr>
        <p:grpSp>
          <p:nvGrpSpPr>
            <p:cNvPr id="115" name=""/>
            <p:cNvGrpSpPr/>
            <p:nvPr/>
          </p:nvGrpSpPr>
          <p:grpSpPr>
            <a:xfrm>
              <a:off x="1441080" y="3984120"/>
              <a:ext cx="651240" cy="1048320"/>
              <a:chOff x="1441080" y="3984120"/>
              <a:chExt cx="651240" cy="1048320"/>
            </a:xfrm>
          </p:grpSpPr>
          <p:sp>
            <p:nvSpPr>
              <p:cNvPr id="116" name=""/>
              <p:cNvSpPr/>
              <p:nvPr/>
            </p:nvSpPr>
            <p:spPr>
              <a:xfrm rot="42600">
                <a:off x="1445760" y="4382640"/>
                <a:ext cx="642240" cy="645480"/>
              </a:xfrm>
              <a:prstGeom prst="ellipse">
                <a:avLst/>
              </a:prstGeom>
              <a:solidFill>
                <a:srgbClr val="cf72b7"/>
              </a:solidFill>
              <a:ln w="38160">
                <a:solidFill>
                  <a:srgbClr val="d9d9c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9080" rIns="109080" tIns="64080" bIns="6408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CMU Serif"/>
                </a:endParaRPr>
              </a:p>
            </p:txBody>
          </p:sp>
          <p:pic>
            <p:nvPicPr>
              <p:cNvPr id="117" name="" descr=""/>
              <p:cNvPicPr/>
              <p:nvPr/>
            </p:nvPicPr>
            <p:blipFill>
              <a:blip r:embed="rId11"/>
              <a:stretch/>
            </p:blipFill>
            <p:spPr>
              <a:xfrm>
                <a:off x="1626480" y="4488480"/>
                <a:ext cx="275040" cy="4050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18" name=""/>
              <p:cNvSpPr/>
              <p:nvPr/>
            </p:nvSpPr>
            <p:spPr>
              <a:xfrm>
                <a:off x="1771560" y="3984120"/>
                <a:ext cx="0" cy="394920"/>
              </a:xfrm>
              <a:prstGeom prst="line">
                <a:avLst/>
              </a:prstGeom>
              <a:ln w="76320">
                <a:solidFill>
                  <a:srgbClr val="d9d9c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8160" rIns="128160" tIns="83160" bIns="8316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CMU Serif"/>
                </a:endParaRPr>
              </a:p>
            </p:txBody>
          </p:sp>
        </p:grpSp>
        <p:grpSp>
          <p:nvGrpSpPr>
            <p:cNvPr id="119" name=""/>
            <p:cNvGrpSpPr/>
            <p:nvPr/>
          </p:nvGrpSpPr>
          <p:grpSpPr>
            <a:xfrm>
              <a:off x="3917520" y="4050720"/>
              <a:ext cx="4138560" cy="1065600"/>
              <a:chOff x="3917520" y="4050720"/>
              <a:chExt cx="4138560" cy="1065600"/>
            </a:xfrm>
          </p:grpSpPr>
          <p:grpSp>
            <p:nvGrpSpPr>
              <p:cNvPr id="120" name=""/>
              <p:cNvGrpSpPr/>
              <p:nvPr/>
            </p:nvGrpSpPr>
            <p:grpSpPr>
              <a:xfrm>
                <a:off x="3917520" y="4050720"/>
                <a:ext cx="651240" cy="1048320"/>
                <a:chOff x="3917520" y="4050720"/>
                <a:chExt cx="651240" cy="1048320"/>
              </a:xfrm>
            </p:grpSpPr>
            <p:sp>
              <p:nvSpPr>
                <p:cNvPr id="121" name=""/>
                <p:cNvSpPr/>
                <p:nvPr/>
              </p:nvSpPr>
              <p:spPr>
                <a:xfrm rot="42600">
                  <a:off x="3922200" y="4449240"/>
                  <a:ext cx="642240" cy="645480"/>
                </a:xfrm>
                <a:prstGeom prst="ellipse">
                  <a:avLst/>
                </a:prstGeom>
                <a:solidFill>
                  <a:srgbClr val="cf72b7"/>
                </a:solidFill>
                <a:ln w="38160">
                  <a:solidFill>
                    <a:srgbClr val="d9d9ce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9080" rIns="109080" tIns="64080" bIns="6408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  <p:sp>
              <p:nvSpPr>
                <p:cNvPr id="122" name=""/>
                <p:cNvSpPr/>
                <p:nvPr/>
              </p:nvSpPr>
              <p:spPr>
                <a:xfrm>
                  <a:off x="4248000" y="4050720"/>
                  <a:ext cx="0" cy="394920"/>
                </a:xfrm>
                <a:prstGeom prst="line">
                  <a:avLst/>
                </a:prstGeom>
                <a:ln w="38160">
                  <a:solidFill>
                    <a:srgbClr val="d9d9ce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9080" rIns="109080" tIns="64080" bIns="6408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  <p:pic>
              <p:nvPicPr>
                <p:cNvPr id="123" name="" descr=""/>
                <p:cNvPicPr/>
                <p:nvPr/>
              </p:nvPicPr>
              <p:blipFill>
                <a:blip r:embed="rId12"/>
                <a:stretch/>
              </p:blipFill>
              <p:spPr>
                <a:xfrm>
                  <a:off x="4010040" y="4557960"/>
                  <a:ext cx="419040" cy="383400"/>
                </a:xfrm>
                <a:prstGeom prst="rect">
                  <a:avLst/>
                </a:prstGeom>
                <a:ln w="0">
                  <a:noFill/>
                </a:ln>
              </p:spPr>
            </p:pic>
          </p:grpSp>
          <p:sp>
            <p:nvSpPr>
              <p:cNvPr id="124" name=""/>
              <p:cNvSpPr/>
              <p:nvPr/>
            </p:nvSpPr>
            <p:spPr>
              <a:xfrm flipH="1">
                <a:off x="4568760" y="4772160"/>
                <a:ext cx="505080" cy="7200"/>
              </a:xfrm>
              <a:prstGeom prst="line">
                <a:avLst/>
              </a:prstGeom>
              <a:ln w="38160">
                <a:solidFill>
                  <a:srgbClr val="d9d9c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9080" rIns="109080" tIns="-56880" bIns="-5688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CMU Serif"/>
                </a:endParaRPr>
              </a:p>
            </p:txBody>
          </p:sp>
          <p:grpSp>
            <p:nvGrpSpPr>
              <p:cNvPr id="125" name=""/>
              <p:cNvGrpSpPr/>
              <p:nvPr/>
            </p:nvGrpSpPr>
            <p:grpSpPr>
              <a:xfrm>
                <a:off x="5070600" y="4068000"/>
                <a:ext cx="651240" cy="1048320"/>
                <a:chOff x="5070600" y="4068000"/>
                <a:chExt cx="651240" cy="1048320"/>
              </a:xfrm>
            </p:grpSpPr>
            <p:sp>
              <p:nvSpPr>
                <p:cNvPr id="126" name=""/>
                <p:cNvSpPr/>
                <p:nvPr/>
              </p:nvSpPr>
              <p:spPr>
                <a:xfrm rot="42600">
                  <a:off x="5075280" y="4466520"/>
                  <a:ext cx="642240" cy="645480"/>
                </a:xfrm>
                <a:prstGeom prst="ellipse">
                  <a:avLst/>
                </a:prstGeom>
                <a:solidFill>
                  <a:srgbClr val="cf72b7"/>
                </a:solidFill>
                <a:ln w="38160">
                  <a:solidFill>
                    <a:srgbClr val="d9d9ce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9080" rIns="109080" tIns="64080" bIns="6408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  <p:sp>
              <p:nvSpPr>
                <p:cNvPr id="127" name=""/>
                <p:cNvSpPr/>
                <p:nvPr/>
              </p:nvSpPr>
              <p:spPr>
                <a:xfrm>
                  <a:off x="5401080" y="4068000"/>
                  <a:ext cx="0" cy="394920"/>
                </a:xfrm>
                <a:prstGeom prst="line">
                  <a:avLst/>
                </a:prstGeom>
                <a:ln w="38160">
                  <a:solidFill>
                    <a:srgbClr val="d9d9ce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9080" rIns="109080" tIns="64080" bIns="6408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  <p:pic>
              <p:nvPicPr>
                <p:cNvPr id="128" name="" descr=""/>
                <p:cNvPicPr/>
                <p:nvPr/>
              </p:nvPicPr>
              <p:blipFill>
                <a:blip r:embed="rId13"/>
                <a:stretch/>
              </p:blipFill>
              <p:spPr>
                <a:xfrm>
                  <a:off x="5172480" y="4567680"/>
                  <a:ext cx="431640" cy="404640"/>
                </a:xfrm>
                <a:prstGeom prst="rect">
                  <a:avLst/>
                </a:prstGeom>
                <a:ln w="0">
                  <a:noFill/>
                </a:ln>
              </p:spPr>
            </p:pic>
          </p:grpSp>
          <p:sp>
            <p:nvSpPr>
              <p:cNvPr id="129" name=""/>
              <p:cNvSpPr/>
              <p:nvPr/>
            </p:nvSpPr>
            <p:spPr>
              <a:xfrm flipH="1">
                <a:off x="5721840" y="4770000"/>
                <a:ext cx="288720" cy="0"/>
              </a:xfrm>
              <a:prstGeom prst="line">
                <a:avLst/>
              </a:prstGeom>
              <a:ln w="38160">
                <a:solidFill>
                  <a:srgbClr val="d9d9c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9080" rIns="109080" tIns="-64080" bIns="-6408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CMU Serif"/>
                </a:endParaRPr>
              </a:p>
            </p:txBody>
          </p:sp>
          <p:pic>
            <p:nvPicPr>
              <p:cNvPr id="130" name="" descr=""/>
              <p:cNvPicPr/>
              <p:nvPr/>
            </p:nvPicPr>
            <p:blipFill>
              <a:blip r:embed="rId14"/>
              <a:stretch/>
            </p:blipFill>
            <p:spPr>
              <a:xfrm>
                <a:off x="6195960" y="4729320"/>
                <a:ext cx="790200" cy="8532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31" name=""/>
              <p:cNvSpPr/>
              <p:nvPr/>
            </p:nvSpPr>
            <p:spPr>
              <a:xfrm flipH="1">
                <a:off x="7112520" y="4760640"/>
                <a:ext cx="288720" cy="0"/>
              </a:xfrm>
              <a:prstGeom prst="line">
                <a:avLst/>
              </a:prstGeom>
              <a:ln w="38160">
                <a:solidFill>
                  <a:srgbClr val="d9d9c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9080" rIns="109080" tIns="-64080" bIns="-6408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CMU Serif"/>
                </a:endParaRPr>
              </a:p>
            </p:txBody>
          </p:sp>
          <p:grpSp>
            <p:nvGrpSpPr>
              <p:cNvPr id="132" name=""/>
              <p:cNvGrpSpPr/>
              <p:nvPr/>
            </p:nvGrpSpPr>
            <p:grpSpPr>
              <a:xfrm>
                <a:off x="7404840" y="4066200"/>
                <a:ext cx="651240" cy="1048320"/>
                <a:chOff x="7404840" y="4066200"/>
                <a:chExt cx="651240" cy="1048320"/>
              </a:xfrm>
            </p:grpSpPr>
            <p:sp>
              <p:nvSpPr>
                <p:cNvPr id="133" name=""/>
                <p:cNvSpPr/>
                <p:nvPr/>
              </p:nvSpPr>
              <p:spPr>
                <a:xfrm rot="42600">
                  <a:off x="7409520" y="4464720"/>
                  <a:ext cx="642240" cy="645480"/>
                </a:xfrm>
                <a:prstGeom prst="ellipse">
                  <a:avLst/>
                </a:prstGeom>
                <a:solidFill>
                  <a:srgbClr val="cf72b7"/>
                </a:solidFill>
                <a:ln w="38160">
                  <a:solidFill>
                    <a:srgbClr val="d9d9ce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9080" rIns="109080" tIns="64080" bIns="6408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  <p:sp>
              <p:nvSpPr>
                <p:cNvPr id="134" name=""/>
                <p:cNvSpPr/>
                <p:nvPr/>
              </p:nvSpPr>
              <p:spPr>
                <a:xfrm>
                  <a:off x="7735320" y="4066200"/>
                  <a:ext cx="0" cy="394920"/>
                </a:xfrm>
                <a:prstGeom prst="line">
                  <a:avLst/>
                </a:prstGeom>
                <a:ln w="38160">
                  <a:solidFill>
                    <a:srgbClr val="d9d9ce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9080" rIns="109080" tIns="64080" bIns="64080" anchor="ctr">
                  <a:noAutofit/>
                </a:bodyPr>
                <a:p>
                  <a:endParaRPr b="0" lang="en-US" sz="1800" spc="-1" strike="noStrike">
                    <a:solidFill>
                      <a:srgbClr val="ffffff"/>
                    </a:solidFill>
                    <a:latin typeface="CMU Serif"/>
                  </a:endParaRPr>
                </a:p>
              </p:txBody>
            </p:sp>
            <p:pic>
              <p:nvPicPr>
                <p:cNvPr id="135" name="" descr=""/>
                <p:cNvPicPr/>
                <p:nvPr/>
              </p:nvPicPr>
              <p:blipFill>
                <a:blip r:embed="rId15"/>
                <a:stretch/>
              </p:blipFill>
              <p:spPr>
                <a:xfrm>
                  <a:off x="7495560" y="4529520"/>
                  <a:ext cx="502200" cy="414000"/>
                </a:xfrm>
                <a:prstGeom prst="rect">
                  <a:avLst/>
                </a:prstGeom>
                <a:ln w="0">
                  <a:noFill/>
                </a:ln>
              </p:spPr>
            </p:pic>
          </p:grpSp>
        </p:grpSp>
        <p:pic>
          <p:nvPicPr>
            <p:cNvPr id="136" name="" descr=""/>
            <p:cNvPicPr/>
            <p:nvPr/>
          </p:nvPicPr>
          <p:blipFill>
            <a:blip r:embed="rId16"/>
            <a:stretch/>
          </p:blipFill>
          <p:spPr>
            <a:xfrm>
              <a:off x="2624400" y="4533840"/>
              <a:ext cx="713880" cy="4186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37" name=""/>
          <p:cNvSpPr/>
          <p:nvPr/>
        </p:nvSpPr>
        <p:spPr>
          <a:xfrm rot="42600">
            <a:off x="4288680" y="1933560"/>
            <a:ext cx="642240" cy="645480"/>
          </a:xfrm>
          <a:prstGeom prst="ellipse">
            <a:avLst/>
          </a:prstGeom>
          <a:solidFill>
            <a:srgbClr val="cf72b7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7"/>
          <a:stretch/>
        </p:blipFill>
        <p:spPr>
          <a:xfrm>
            <a:off x="4592160" y="1528560"/>
            <a:ext cx="34200" cy="416520"/>
          </a:xfrm>
          <a:prstGeom prst="rect">
            <a:avLst/>
          </a:prstGeom>
          <a:ln w="0">
            <a:noFill/>
          </a:ln>
        </p:spPr>
      </p:pic>
      <p:sp>
        <p:nvSpPr>
          <p:cNvPr id="139" name=""/>
          <p:cNvSpPr txBox="1"/>
          <p:nvPr/>
        </p:nvSpPr>
        <p:spPr>
          <a:xfrm>
            <a:off x="4493520" y="1116360"/>
            <a:ext cx="272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i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4417560" y="2046600"/>
            <a:ext cx="427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U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141" name=""/>
          <p:cNvSpPr/>
          <p:nvPr/>
        </p:nvSpPr>
        <p:spPr>
          <a:xfrm rot="42600">
            <a:off x="227520" y="1933560"/>
            <a:ext cx="642240" cy="645480"/>
          </a:xfrm>
          <a:prstGeom prst="ellipse">
            <a:avLst/>
          </a:prstGeom>
          <a:solidFill>
            <a:srgbClr val="729fcf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MU Serif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8"/>
          <a:stretch/>
        </p:blipFill>
        <p:spPr>
          <a:xfrm>
            <a:off x="531000" y="1528560"/>
            <a:ext cx="34200" cy="41652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 txBox="1"/>
          <p:nvPr/>
        </p:nvSpPr>
        <p:spPr>
          <a:xfrm>
            <a:off x="988200" y="2001240"/>
            <a:ext cx="436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=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 txBox="1"/>
          <p:nvPr/>
        </p:nvSpPr>
        <p:spPr>
          <a:xfrm>
            <a:off x="63720" y="360"/>
            <a:ext cx="9897480" cy="48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pPr algn="ctr"/>
            <a:r>
              <a:rPr b="1" lang="en-US" sz="2600" spc="-1" strike="noStrike">
                <a:solidFill>
                  <a:srgbClr val="d9d9ce"/>
                </a:solidFill>
                <a:latin typeface="Noto Sans"/>
              </a:rPr>
              <a:t>La base sBs/BP+ 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1829160" y="2686320"/>
            <a:ext cx="6171840" cy="666360"/>
          </a:xfrm>
          <a:prstGeom prst="rect">
            <a:avLst/>
          </a:prstGeom>
          <a:ln w="0">
            <a:noFill/>
          </a:ln>
        </p:spPr>
      </p:pic>
      <p:sp>
        <p:nvSpPr>
          <p:cNvPr id="146" name=""/>
          <p:cNvSpPr txBox="1"/>
          <p:nvPr/>
        </p:nvSpPr>
        <p:spPr>
          <a:xfrm>
            <a:off x="453600" y="485640"/>
            <a:ext cx="9150840" cy="93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00" spc="-1" strike="noStrike">
                <a:solidFill>
                  <a:srgbClr val="b3b3a9"/>
                </a:solidFill>
                <a:latin typeface="Noto Sans"/>
              </a:rPr>
              <a:t>Décomposition de l’espace de Hilbert en un espace logique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  <a:p>
            <a:r>
              <a:rPr b="0" lang="en-US" sz="2600" spc="-1" strike="noStrike">
                <a:solidFill>
                  <a:srgbClr val="b3b3a9"/>
                </a:solidFill>
                <a:latin typeface="Noto Sans"/>
              </a:rPr>
              <a:t>et un espace d’erreur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 txBox="1"/>
          <p:nvPr/>
        </p:nvSpPr>
        <p:spPr>
          <a:xfrm>
            <a:off x="63720" y="360"/>
            <a:ext cx="9897480" cy="48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pPr algn="ctr"/>
            <a:r>
              <a:rPr b="1" lang="en-US" sz="2600" spc="-1" strike="noStrike">
                <a:solidFill>
                  <a:srgbClr val="d9d9ce"/>
                </a:solidFill>
                <a:latin typeface="Noto Sans"/>
              </a:rPr>
              <a:t>La base sBs/BP+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453600" y="485640"/>
            <a:ext cx="448056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00" spc="-1" strike="noStrike">
                <a:solidFill>
                  <a:srgbClr val="b3b3a9"/>
                </a:solidFill>
                <a:latin typeface="Noto Sans"/>
              </a:rPr>
              <a:t>BP+ examples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1"/>
          <a:stretch/>
        </p:blipFill>
        <p:spPr>
          <a:xfrm>
            <a:off x="438120" y="1061280"/>
            <a:ext cx="4556520" cy="4072680"/>
          </a:xfrm>
          <a:prstGeom prst="rect">
            <a:avLst/>
          </a:prstGeom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2"/>
          <a:stretch/>
        </p:blipFill>
        <p:spPr>
          <a:xfrm>
            <a:off x="5117040" y="1042200"/>
            <a:ext cx="4591800" cy="4082040"/>
          </a:xfrm>
          <a:prstGeom prst="rect">
            <a:avLst/>
          </a:prstGeom>
          <a:ln w="0">
            <a:noFill/>
          </a:ln>
        </p:spPr>
      </p:pic>
      <p:pic>
        <p:nvPicPr>
          <p:cNvPr id="151" name="" descr=""/>
          <p:cNvPicPr/>
          <p:nvPr/>
        </p:nvPicPr>
        <p:blipFill>
          <a:blip r:embed="rId3"/>
          <a:stretch/>
        </p:blipFill>
        <p:spPr>
          <a:xfrm>
            <a:off x="438480" y="1061640"/>
            <a:ext cx="4556520" cy="407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 txBox="1"/>
          <p:nvPr/>
        </p:nvSpPr>
        <p:spPr>
          <a:xfrm>
            <a:off x="2543040" y="2292840"/>
            <a:ext cx="4990320" cy="634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Résultats de simulation</a:t>
            </a:r>
            <a:endParaRPr b="0" lang="en-US" sz="3200" spc="-1" strike="noStrike">
              <a:solidFill>
                <a:srgbClr val="ffffff"/>
              </a:solidFill>
              <a:latin typeface="CM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 txBox="1"/>
          <p:nvPr/>
        </p:nvSpPr>
        <p:spPr>
          <a:xfrm>
            <a:off x="64080" y="360"/>
            <a:ext cx="9897480" cy="48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pPr algn="ctr"/>
            <a:r>
              <a:rPr b="1" lang="en-US" sz="2600" spc="-1" strike="noStrike">
                <a:solidFill>
                  <a:srgbClr val="d9d9ce"/>
                </a:solidFill>
                <a:latin typeface="Noto Sans"/>
              </a:rPr>
              <a:t>Simulation avec une seule cavité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grpSp>
        <p:nvGrpSpPr>
          <p:cNvPr id="154" name=""/>
          <p:cNvGrpSpPr/>
          <p:nvPr/>
        </p:nvGrpSpPr>
        <p:grpSpPr>
          <a:xfrm>
            <a:off x="595800" y="2280600"/>
            <a:ext cx="7643160" cy="3517920"/>
            <a:chOff x="595800" y="2280600"/>
            <a:chExt cx="7643160" cy="3517920"/>
          </a:xfrm>
        </p:grpSpPr>
        <p:pic>
          <p:nvPicPr>
            <p:cNvPr id="155" name="" descr=""/>
            <p:cNvPicPr/>
            <p:nvPr/>
          </p:nvPicPr>
          <p:blipFill>
            <a:blip r:embed="rId1"/>
            <a:srcRect l="37605" t="10733" r="37476" b="84052"/>
            <a:stretch/>
          </p:blipFill>
          <p:spPr>
            <a:xfrm>
              <a:off x="595800" y="2280600"/>
              <a:ext cx="7643160" cy="1937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6" name="" descr=""/>
            <p:cNvPicPr/>
            <p:nvPr/>
          </p:nvPicPr>
          <p:blipFill>
            <a:blip r:embed="rId2"/>
            <a:stretch/>
          </p:blipFill>
          <p:spPr>
            <a:xfrm>
              <a:off x="2167560" y="4400280"/>
              <a:ext cx="5374800" cy="3556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7" name=""/>
            <p:cNvSpPr txBox="1"/>
            <p:nvPr/>
          </p:nvSpPr>
          <p:spPr>
            <a:xfrm>
              <a:off x="4207680" y="4755960"/>
              <a:ext cx="2444400" cy="1042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>
              <a:noAutofit/>
            </a:bodyPr>
            <a:p>
              <a:pPr algn="ctr"/>
              <a:r>
                <a:rPr b="0" i="1" lang="en-US" sz="4200" spc="-1" strike="noStrike">
                  <a:solidFill>
                    <a:srgbClr val="d9d9ce"/>
                  </a:solidFill>
                  <a:latin typeface="CMU Serif"/>
                </a:rPr>
                <a:t>n</a:t>
              </a:r>
              <a:r>
                <a:rPr b="0" lang="en-US" sz="4200" spc="-1" strike="noStrike">
                  <a:solidFill>
                    <a:srgbClr val="d9d9ce"/>
                  </a:solidFill>
                  <a:latin typeface="CMU Serif"/>
                </a:rPr>
                <a:t> fois</a:t>
              </a:r>
              <a:endParaRPr b="0" lang="en-US" sz="42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sp>
        <p:nvSpPr>
          <p:cNvPr id="158" name=""/>
          <p:cNvSpPr txBox="1"/>
          <p:nvPr/>
        </p:nvSpPr>
        <p:spPr>
          <a:xfrm>
            <a:off x="2333520" y="1022040"/>
            <a:ext cx="5287320" cy="86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00" spc="-1" strike="noStrike">
                <a:solidFill>
                  <a:srgbClr val="b3b3a9"/>
                </a:solidFill>
                <a:latin typeface="CMU Serif"/>
              </a:rPr>
              <a:t>On simule la perte de photons ainsi 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  <a:p>
            <a:r>
              <a:rPr b="0" lang="en-US" sz="2600" spc="-1" strike="noStrike">
                <a:solidFill>
                  <a:srgbClr val="b3b3a9"/>
                </a:solidFill>
                <a:latin typeface="CMU Serif"/>
              </a:rPr>
              <a:t>que la stablisation de l’état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sp useBgFill="1">
        <p:nvSpPr>
          <p:cNvPr id="159" name=""/>
          <p:cNvSpPr/>
          <p:nvPr/>
        </p:nvSpPr>
        <p:spPr>
          <a:xfrm>
            <a:off x="737640" y="3679200"/>
            <a:ext cx="952920" cy="820080"/>
          </a:xfrm>
          <a:prstGeom prst="ellipse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M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 txBox="1"/>
          <p:nvPr/>
        </p:nvSpPr>
        <p:spPr>
          <a:xfrm>
            <a:off x="64080" y="360"/>
            <a:ext cx="9897480" cy="48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pPr algn="ctr"/>
            <a:r>
              <a:rPr b="1" lang="en-US" sz="2600" spc="-1" strike="noStrike">
                <a:solidFill>
                  <a:srgbClr val="d9d9ce"/>
                </a:solidFill>
                <a:latin typeface="Noto Sans"/>
              </a:rPr>
              <a:t>Résultats préléminaires: fidelité logique et entropie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453600" y="485640"/>
            <a:ext cx="511668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00" spc="-1" strike="noStrike">
                <a:solidFill>
                  <a:srgbClr val="b3b3a9"/>
                </a:solidFill>
                <a:latin typeface="Noto Sans"/>
              </a:rPr>
              <a:t>Moyenné sur 10 000 échantillons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05280" y="1552680"/>
            <a:ext cx="4752720" cy="3168720"/>
          </a:xfrm>
          <a:prstGeom prst="rect">
            <a:avLst/>
          </a:prstGeom>
          <a:ln w="0">
            <a:noFill/>
          </a:ln>
        </p:spPr>
      </p:pic>
      <p:pic>
        <p:nvPicPr>
          <p:cNvPr id="163" name="" descr=""/>
          <p:cNvPicPr/>
          <p:nvPr/>
        </p:nvPicPr>
        <p:blipFill>
          <a:blip r:embed="rId2"/>
          <a:stretch/>
        </p:blipFill>
        <p:spPr>
          <a:xfrm>
            <a:off x="5058000" y="1552680"/>
            <a:ext cx="4753440" cy="316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 txBox="1"/>
          <p:nvPr/>
        </p:nvSpPr>
        <p:spPr>
          <a:xfrm>
            <a:off x="3385080" y="2292840"/>
            <a:ext cx="3306600" cy="634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Suite du projet</a:t>
            </a:r>
            <a:endParaRPr b="0" lang="en-US" sz="3200" spc="-1" strike="noStrike">
              <a:solidFill>
                <a:srgbClr val="ffffff"/>
              </a:solidFill>
              <a:latin typeface="CM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 txBox="1"/>
          <p:nvPr/>
        </p:nvSpPr>
        <p:spPr>
          <a:xfrm>
            <a:off x="64440" y="360"/>
            <a:ext cx="9897480" cy="48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pPr algn="ctr"/>
            <a:r>
              <a:rPr b="1" lang="en-US" sz="2600" spc="-1" strike="noStrike">
                <a:solidFill>
                  <a:srgbClr val="d9d9ce"/>
                </a:solidFill>
                <a:latin typeface="Noto Sans"/>
              </a:rPr>
              <a:t>Simulations futures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453600" y="485640"/>
            <a:ext cx="448056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00" spc="-1" strike="noStrike">
                <a:solidFill>
                  <a:srgbClr val="b3b3a9"/>
                </a:solidFill>
                <a:latin typeface="Noto Sans"/>
              </a:rPr>
              <a:t>Comparaison avec BP+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1049040" y="1714680"/>
            <a:ext cx="8087040" cy="256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 txBox="1"/>
          <p:nvPr/>
        </p:nvSpPr>
        <p:spPr>
          <a:xfrm>
            <a:off x="353160" y="2779560"/>
            <a:ext cx="60912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3200" spc="-1" strike="noStrike">
                <a:solidFill>
                  <a:srgbClr val="d9d9ce"/>
                </a:solidFill>
                <a:latin typeface="CMU Serif"/>
              </a:rPr>
              <a:t>x3</a:t>
            </a:r>
            <a:endParaRPr b="0" lang="en-US" sz="3200" spc="-1" strike="noStrike">
              <a:solidFill>
                <a:srgbClr val="ffffff"/>
              </a:solidFill>
              <a:latin typeface="CMU Serif"/>
            </a:endParaRPr>
          </a:p>
        </p:txBody>
      </p:sp>
      <p:sp useBgFill="1">
        <p:nvSpPr>
          <p:cNvPr id="169" name=""/>
          <p:cNvSpPr/>
          <p:nvPr/>
        </p:nvSpPr>
        <p:spPr>
          <a:xfrm>
            <a:off x="297360" y="2006640"/>
            <a:ext cx="747000" cy="7063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MU Serif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2">
            <a:biLevel thresh="50000"/>
            <a:lum bright="100000"/>
          </a:blip>
          <a:srcRect l="9884" t="0" r="0" b="0"/>
          <a:stretch/>
        </p:blipFill>
        <p:spPr>
          <a:xfrm>
            <a:off x="2971440" y="1773000"/>
            <a:ext cx="6827040" cy="2805120"/>
          </a:xfrm>
          <a:prstGeom prst="rect">
            <a:avLst/>
          </a:prstGeom>
          <a:ln w="0">
            <a:noFill/>
          </a:ln>
        </p:spPr>
      </p:pic>
      <p:sp>
        <p:nvSpPr>
          <p:cNvPr id="171" name=""/>
          <p:cNvSpPr txBox="1"/>
          <p:nvPr/>
        </p:nvSpPr>
        <p:spPr>
          <a:xfrm>
            <a:off x="1130760" y="1476720"/>
            <a:ext cx="992880" cy="21736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12780" spc="-1" strike="noStrike">
                <a:solidFill>
                  <a:srgbClr val="d9d9ce"/>
                </a:solidFill>
                <a:latin typeface="CMU Concrete"/>
              </a:rPr>
              <a:t>{</a:t>
            </a:r>
            <a:endParaRPr b="0" lang="en-US" sz="12780" spc="-1" strike="noStrike">
              <a:solidFill>
                <a:srgbClr val="ffffff"/>
              </a:solidFill>
              <a:latin typeface="CMU Serif"/>
            </a:endParaRPr>
          </a:p>
        </p:txBody>
      </p:sp>
      <p:sp useBgFill="1">
        <p:nvSpPr>
          <p:cNvPr id="172" name=""/>
          <p:cNvSpPr/>
          <p:nvPr/>
        </p:nvSpPr>
        <p:spPr>
          <a:xfrm>
            <a:off x="2077200" y="1872000"/>
            <a:ext cx="949680" cy="359640"/>
          </a:xfrm>
          <a:prstGeom prst="roundRect">
            <a:avLst>
              <a:gd name="adj" fmla="val 0"/>
            </a:avLst>
          </a:prstGeom>
          <a:ln w="1908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CMU Classical Serif"/>
              </a:rPr>
              <a:t>sBs</a:t>
            </a:r>
            <a:endParaRPr b="0" lang="en-US" sz="1800" spc="-1" strike="noStrike">
              <a:solidFill>
                <a:srgbClr val="ffffff"/>
              </a:solidFill>
              <a:latin typeface="CMU Classical Serif"/>
            </a:endParaRPr>
          </a:p>
        </p:txBody>
      </p:sp>
      <p:sp useBgFill="1">
        <p:nvSpPr>
          <p:cNvPr id="173" name=""/>
          <p:cNvSpPr/>
          <p:nvPr/>
        </p:nvSpPr>
        <p:spPr>
          <a:xfrm>
            <a:off x="2085480" y="2379960"/>
            <a:ext cx="949680" cy="359640"/>
          </a:xfrm>
          <a:prstGeom prst="roundRect">
            <a:avLst>
              <a:gd name="adj" fmla="val 0"/>
            </a:avLst>
          </a:prstGeom>
          <a:ln w="1908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CMU Classical Serif"/>
              </a:rPr>
              <a:t>sBs</a:t>
            </a:r>
            <a:endParaRPr b="0" lang="en-US" sz="1800" spc="-1" strike="noStrike">
              <a:solidFill>
                <a:srgbClr val="ffffff"/>
              </a:solidFill>
              <a:latin typeface="CMU Classical Serif"/>
            </a:endParaRPr>
          </a:p>
        </p:txBody>
      </p:sp>
      <p:sp useBgFill="1">
        <p:nvSpPr>
          <p:cNvPr id="174" name=""/>
          <p:cNvSpPr/>
          <p:nvPr/>
        </p:nvSpPr>
        <p:spPr>
          <a:xfrm>
            <a:off x="2093760" y="2903760"/>
            <a:ext cx="949680" cy="359640"/>
          </a:xfrm>
          <a:prstGeom prst="roundRect">
            <a:avLst>
              <a:gd name="adj" fmla="val 0"/>
            </a:avLst>
          </a:prstGeom>
          <a:ln w="1908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CMU Classical Serif"/>
              </a:rPr>
              <a:t>sBs</a:t>
            </a:r>
            <a:endParaRPr b="0" lang="en-US" sz="1800" spc="-1" strike="noStrike">
              <a:solidFill>
                <a:srgbClr val="ffffff"/>
              </a:solidFill>
              <a:latin typeface="CMU Classical Serif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64440" y="360"/>
            <a:ext cx="9897480" cy="48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pPr algn="ctr"/>
            <a:r>
              <a:rPr b="1" lang="en-US" sz="2600" spc="-1" strike="noStrike">
                <a:solidFill>
                  <a:srgbClr val="d9d9ce"/>
                </a:solidFill>
                <a:latin typeface="Noto Sans"/>
              </a:rPr>
              <a:t>Simulations futures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453600" y="485640"/>
            <a:ext cx="448056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00" spc="-1" strike="noStrike">
                <a:solidFill>
                  <a:srgbClr val="b3b3a9"/>
                </a:solidFill>
                <a:latin typeface="Noto Sans"/>
              </a:rPr>
              <a:t>Code de répétition simple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 txBox="1"/>
          <p:nvPr/>
        </p:nvSpPr>
        <p:spPr>
          <a:xfrm>
            <a:off x="64800" y="360"/>
            <a:ext cx="9897480" cy="48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pPr algn="ctr"/>
            <a:r>
              <a:rPr b="1" lang="en-US" sz="2600" spc="-1" strike="noStrike">
                <a:solidFill>
                  <a:srgbClr val="d9d9ce"/>
                </a:solidFill>
                <a:latin typeface="Noto Sans"/>
              </a:rPr>
              <a:t>Simulations futures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923760" y="2255400"/>
            <a:ext cx="8646120" cy="212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b3b3a9"/>
                </a:solidFill>
                <a:latin typeface="CMU Serif"/>
              </a:rPr>
              <a:t>Codes de Floquet</a:t>
            </a:r>
            <a:endParaRPr b="0" lang="en-US" sz="3200" spc="-1" strike="noStrike">
              <a:solidFill>
                <a:srgbClr val="ffffff"/>
              </a:solidFill>
              <a:latin typeface="Noto Sans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b3b3a9"/>
                </a:solidFill>
                <a:latin typeface="CMU Serif"/>
              </a:rPr>
              <a:t>Preparation d’états magiques </a:t>
            </a:r>
            <a:endParaRPr b="0" lang="en-US" sz="3200" spc="-1" strike="noStrike">
              <a:solidFill>
                <a:srgbClr val="ffffff"/>
              </a:solidFill>
              <a:latin typeface="Noto Sans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b3b3a9"/>
                </a:solidFill>
                <a:latin typeface="CMU Serif"/>
              </a:rPr>
              <a:t>Étude de la validité des certines approximation</a:t>
            </a:r>
            <a:br>
              <a:rPr sz="3200"/>
            </a:br>
            <a:r>
              <a:rPr b="0" lang="en-US" sz="3200" spc="-1" strike="noStrike">
                <a:solidFill>
                  <a:srgbClr val="b3b3a9"/>
                </a:solidFill>
                <a:latin typeface="CMU Serif"/>
              </a:rPr>
              <a:t> </a:t>
            </a:r>
            <a:endParaRPr b="0" lang="en-US" sz="3200" spc="-1" strike="noStrike">
              <a:solidFill>
                <a:srgbClr val="ffffff"/>
              </a:solidFill>
              <a:latin typeface="Noto Sans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963400" y="321480"/>
            <a:ext cx="3299400" cy="221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 txBox="1"/>
          <p:nvPr/>
        </p:nvSpPr>
        <p:spPr>
          <a:xfrm>
            <a:off x="4283640" y="2292840"/>
            <a:ext cx="1509480" cy="634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1" lang="en-US" sz="3200" spc="-1" strike="noStrike">
                <a:solidFill>
                  <a:srgbClr val="d9d9ce"/>
                </a:solidFill>
                <a:latin typeface="CMU Serif"/>
              </a:rPr>
              <a:t>Merci!</a:t>
            </a:r>
            <a:endParaRPr b="0" lang="en-US" sz="3200" spc="-1" strike="noStrike">
              <a:solidFill>
                <a:srgbClr val="ffffff"/>
              </a:solidFill>
              <a:latin typeface="CM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 txBox="1"/>
          <p:nvPr/>
        </p:nvSpPr>
        <p:spPr>
          <a:xfrm>
            <a:off x="63720" y="360"/>
            <a:ext cx="9897480" cy="902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pPr algn="ctr"/>
            <a:r>
              <a:rPr b="1" lang="en-US" sz="2600" spc="-1" strike="noStrike">
                <a:solidFill>
                  <a:srgbClr val="d9d9ce"/>
                </a:solidFill>
                <a:latin typeface="Noto Sans"/>
              </a:rPr>
              <a:t>Tensor Networks Revision/Introduction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  <a:p>
            <a:pPr algn="ctr"/>
            <a:r>
              <a:rPr b="1" lang="en-US" sz="2600" spc="-1" strike="noStrike">
                <a:solidFill>
                  <a:srgbClr val="d9d9ce"/>
                </a:solidFill>
                <a:latin typeface="Noto Sans"/>
              </a:rPr>
              <a:t> 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453240" y="380880"/>
            <a:ext cx="5794200" cy="452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00" spc="-1" strike="noStrike">
                <a:solidFill>
                  <a:srgbClr val="b3b3a9"/>
                </a:solidFill>
                <a:latin typeface="Noto Sans"/>
              </a:rPr>
              <a:t>Singular Value Decomposition: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682200" y="1656720"/>
            <a:ext cx="45504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m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1604880" y="2976480"/>
            <a:ext cx="36360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n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4748040" y="3572280"/>
            <a:ext cx="1890720" cy="1817640"/>
          </a:xfrm>
          <a:prstGeom prst="rect">
            <a:avLst/>
          </a:prstGeom>
          <a:ln w="0">
            <a:noFill/>
          </a:ln>
        </p:spPr>
      </p:pic>
      <p:grpSp>
        <p:nvGrpSpPr>
          <p:cNvPr id="186" name=""/>
          <p:cNvGrpSpPr/>
          <p:nvPr/>
        </p:nvGrpSpPr>
        <p:grpSpPr>
          <a:xfrm>
            <a:off x="2666880" y="3571560"/>
            <a:ext cx="1767600" cy="1802160"/>
            <a:chOff x="2666880" y="3571560"/>
            <a:chExt cx="1767600" cy="1802160"/>
          </a:xfrm>
        </p:grpSpPr>
        <p:sp>
          <p:nvSpPr>
            <p:cNvPr id="187" name=""/>
            <p:cNvSpPr/>
            <p:nvPr/>
          </p:nvSpPr>
          <p:spPr>
            <a:xfrm>
              <a:off x="2666880" y="3571560"/>
              <a:ext cx="961920" cy="1802160"/>
            </a:xfrm>
            <a:prstGeom prst="rect">
              <a:avLst/>
            </a:prstGeom>
            <a:solidFill>
              <a:srgbClr val="729fcf"/>
            </a:solidFill>
            <a:ln w="29160">
              <a:solidFill>
                <a:srgbClr val="d9d9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4400" rIns="104400" tIns="59400" bIns="594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MU Serif"/>
              </a:endParaRPr>
            </a:p>
          </p:txBody>
        </p:sp>
        <p:sp>
          <p:nvSpPr>
            <p:cNvPr id="188" name=""/>
            <p:cNvSpPr txBox="1"/>
            <p:nvPr/>
          </p:nvSpPr>
          <p:spPr>
            <a:xfrm>
              <a:off x="2950920" y="4194360"/>
              <a:ext cx="408600" cy="5230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noAutofit/>
            </a:bodyPr>
            <a:p>
              <a:pPr algn="ctr"/>
              <a:r>
                <a:rPr b="0" lang="en-US" sz="2600" spc="-1" strike="noStrike">
                  <a:solidFill>
                    <a:srgbClr val="d9d9ce"/>
                  </a:solidFill>
                  <a:latin typeface="CMU Serif"/>
                </a:rPr>
                <a:t>S</a:t>
              </a:r>
              <a:endParaRPr b="0" lang="en-US" sz="2600" spc="-1" strike="noStrike">
                <a:solidFill>
                  <a:srgbClr val="ffffff"/>
                </a:solidFill>
                <a:latin typeface="CMU Serif"/>
              </a:endParaRPr>
            </a:p>
          </p:txBody>
        </p:sp>
        <p:sp>
          <p:nvSpPr>
            <p:cNvPr id="189" name=""/>
            <p:cNvSpPr txBox="1"/>
            <p:nvPr/>
          </p:nvSpPr>
          <p:spPr>
            <a:xfrm>
              <a:off x="3997800" y="4123080"/>
              <a:ext cx="436680" cy="5230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noAutofit/>
            </a:bodyPr>
            <a:p>
              <a:pPr algn="ctr"/>
              <a:r>
                <a:rPr b="0" lang="en-US" sz="2600" spc="-1" strike="noStrike">
                  <a:solidFill>
                    <a:srgbClr val="d9d9ce"/>
                  </a:solidFill>
                  <a:latin typeface="CMU Serif"/>
                </a:rPr>
                <a:t>=</a:t>
              </a:r>
              <a:endParaRPr b="0" lang="en-US" sz="2600" spc="-1" strike="noStrike">
                <a:solidFill>
                  <a:srgbClr val="ffffff"/>
                </a:solidFill>
                <a:latin typeface="CMU Serif"/>
              </a:endParaRPr>
            </a:p>
          </p:txBody>
        </p:sp>
      </p:grpSp>
      <p:sp>
        <p:nvSpPr>
          <p:cNvPr id="190" name=""/>
          <p:cNvSpPr/>
          <p:nvPr/>
        </p:nvSpPr>
        <p:spPr>
          <a:xfrm>
            <a:off x="1320840" y="1008000"/>
            <a:ext cx="940680" cy="1821960"/>
          </a:xfrm>
          <a:prstGeom prst="rect">
            <a:avLst/>
          </a:prstGeom>
          <a:solidFill>
            <a:srgbClr val="729fcf"/>
          </a:solidFill>
          <a:ln w="29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MU Serif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2349360" y="1624320"/>
            <a:ext cx="436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=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2"/>
          <a:stretch/>
        </p:blipFill>
        <p:spPr>
          <a:xfrm>
            <a:off x="1285920" y="2905920"/>
            <a:ext cx="1017720" cy="194760"/>
          </a:xfrm>
          <a:prstGeom prst="rect">
            <a:avLst/>
          </a:prstGeom>
          <a:ln w="0">
            <a:noFill/>
          </a:ln>
        </p:spPr>
      </p:pic>
      <p:pic>
        <p:nvPicPr>
          <p:cNvPr id="193" name="" descr=""/>
          <p:cNvPicPr/>
          <p:nvPr/>
        </p:nvPicPr>
        <p:blipFill>
          <a:blip r:embed="rId3"/>
          <a:stretch/>
        </p:blipFill>
        <p:spPr>
          <a:xfrm rot="5400000">
            <a:off x="259560" y="1834560"/>
            <a:ext cx="1802880" cy="173520"/>
          </a:xfrm>
          <a:prstGeom prst="rect">
            <a:avLst/>
          </a:prstGeom>
          <a:ln w="0">
            <a:noFill/>
          </a:ln>
        </p:spPr>
      </p:pic>
      <p:sp>
        <p:nvSpPr>
          <p:cNvPr id="194" name=""/>
          <p:cNvSpPr/>
          <p:nvPr/>
        </p:nvSpPr>
        <p:spPr>
          <a:xfrm rot="5400000">
            <a:off x="3249720" y="1000800"/>
            <a:ext cx="1825560" cy="1822320"/>
          </a:xfrm>
          <a:prstGeom prst="rect">
            <a:avLst/>
          </a:prstGeom>
          <a:solidFill>
            <a:srgbClr val="cf72b7"/>
          </a:solidFill>
          <a:ln w="29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581840" y="1729800"/>
            <a:ext cx="48240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M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3941280" y="1662840"/>
            <a:ext cx="427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U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197" name="" descr=""/>
          <p:cNvPicPr/>
          <p:nvPr/>
        </p:nvPicPr>
        <p:blipFill>
          <a:blip r:embed="rId4"/>
          <a:stretch/>
        </p:blipFill>
        <p:spPr>
          <a:xfrm>
            <a:off x="5303160" y="1782360"/>
            <a:ext cx="225360" cy="219960"/>
          </a:xfrm>
          <a:prstGeom prst="rect">
            <a:avLst/>
          </a:prstGeom>
          <a:ln w="0">
            <a:noFill/>
          </a:ln>
        </p:spPr>
      </p:pic>
      <p:sp>
        <p:nvSpPr>
          <p:cNvPr id="198" name=""/>
          <p:cNvSpPr/>
          <p:nvPr/>
        </p:nvSpPr>
        <p:spPr>
          <a:xfrm>
            <a:off x="6151680" y="999720"/>
            <a:ext cx="940320" cy="1821600"/>
          </a:xfrm>
          <a:prstGeom prst="rect">
            <a:avLst/>
          </a:prstGeom>
          <a:solidFill>
            <a:srgbClr val="729fcf"/>
          </a:solidFill>
          <a:ln w="29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MU Serif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465960" y="1662840"/>
            <a:ext cx="39960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S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5"/>
          <a:stretch/>
        </p:blipFill>
        <p:spPr>
          <a:xfrm>
            <a:off x="7312680" y="1774080"/>
            <a:ext cx="225360" cy="219960"/>
          </a:xfrm>
          <a:prstGeom prst="rect">
            <a:avLst/>
          </a:prstGeom>
          <a:ln w="0">
            <a:noFill/>
          </a:ln>
        </p:spPr>
      </p:pic>
      <p:sp>
        <p:nvSpPr>
          <p:cNvPr id="201" name=""/>
          <p:cNvSpPr/>
          <p:nvPr/>
        </p:nvSpPr>
        <p:spPr>
          <a:xfrm rot="16200000">
            <a:off x="7771320" y="1444320"/>
            <a:ext cx="940320" cy="940680"/>
          </a:xfrm>
          <a:prstGeom prst="rect">
            <a:avLst/>
          </a:prstGeom>
          <a:solidFill>
            <a:srgbClr val="d99a8d"/>
          </a:solidFill>
          <a:ln w="29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MU Serif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8024400" y="1663200"/>
            <a:ext cx="427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V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6"/>
          <a:stretch/>
        </p:blipFill>
        <p:spPr>
          <a:xfrm>
            <a:off x="8337600" y="1642680"/>
            <a:ext cx="86400" cy="227520"/>
          </a:xfrm>
          <a:prstGeom prst="rect">
            <a:avLst/>
          </a:prstGeom>
          <a:ln w="0">
            <a:noFill/>
          </a:ln>
        </p:spPr>
      </p:pic>
      <p:sp>
        <p:nvSpPr>
          <p:cNvPr id="204" name=""/>
          <p:cNvSpPr txBox="1"/>
          <p:nvPr/>
        </p:nvSpPr>
        <p:spPr>
          <a:xfrm>
            <a:off x="8084880" y="2528640"/>
            <a:ext cx="36360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n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7"/>
          <a:stretch/>
        </p:blipFill>
        <p:spPr>
          <a:xfrm>
            <a:off x="7720200" y="2469960"/>
            <a:ext cx="1018080" cy="194760"/>
          </a:xfrm>
          <a:prstGeom prst="rect">
            <a:avLst/>
          </a:prstGeom>
          <a:ln w="0">
            <a:noFill/>
          </a:ln>
        </p:spPr>
      </p:pic>
      <p:pic>
        <p:nvPicPr>
          <p:cNvPr id="206" name="" descr=""/>
          <p:cNvPicPr/>
          <p:nvPr/>
        </p:nvPicPr>
        <p:blipFill>
          <a:blip r:embed="rId8"/>
          <a:stretch/>
        </p:blipFill>
        <p:spPr>
          <a:xfrm flipH="1" rot="16200000">
            <a:off x="8372160" y="1830960"/>
            <a:ext cx="1017720" cy="191880"/>
          </a:xfrm>
          <a:prstGeom prst="rect">
            <a:avLst/>
          </a:prstGeom>
          <a:ln w="0">
            <a:noFill/>
          </a:ln>
        </p:spPr>
      </p:pic>
      <p:sp>
        <p:nvSpPr>
          <p:cNvPr id="207" name=""/>
          <p:cNvSpPr txBox="1"/>
          <p:nvPr/>
        </p:nvSpPr>
        <p:spPr>
          <a:xfrm>
            <a:off x="8903880" y="1616400"/>
            <a:ext cx="36360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n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6482880" y="2928960"/>
            <a:ext cx="36360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n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9"/>
          <a:stretch/>
        </p:blipFill>
        <p:spPr>
          <a:xfrm>
            <a:off x="6118200" y="2870280"/>
            <a:ext cx="1018080" cy="194760"/>
          </a:xfrm>
          <a:prstGeom prst="rect">
            <a:avLst/>
          </a:prstGeom>
          <a:ln w="0">
            <a:noFill/>
          </a:ln>
        </p:spPr>
      </p:pic>
      <p:pic>
        <p:nvPicPr>
          <p:cNvPr id="210" name="" descr=""/>
          <p:cNvPicPr/>
          <p:nvPr/>
        </p:nvPicPr>
        <p:blipFill>
          <a:blip r:embed="rId10"/>
          <a:stretch/>
        </p:blipFill>
        <p:spPr>
          <a:xfrm rot="5400000">
            <a:off x="2217600" y="1816560"/>
            <a:ext cx="1802880" cy="173160"/>
          </a:xfrm>
          <a:prstGeom prst="rect">
            <a:avLst/>
          </a:prstGeom>
          <a:ln w="0">
            <a:noFill/>
          </a:ln>
        </p:spPr>
      </p:pic>
      <p:pic>
        <p:nvPicPr>
          <p:cNvPr id="211" name="" descr=""/>
          <p:cNvPicPr/>
          <p:nvPr/>
        </p:nvPicPr>
        <p:blipFill>
          <a:blip r:embed="rId11"/>
          <a:stretch/>
        </p:blipFill>
        <p:spPr>
          <a:xfrm>
            <a:off x="3276720" y="2884680"/>
            <a:ext cx="1802880" cy="173160"/>
          </a:xfrm>
          <a:prstGeom prst="rect">
            <a:avLst/>
          </a:prstGeom>
          <a:ln w="0">
            <a:noFill/>
          </a:ln>
        </p:spPr>
      </p:pic>
      <p:sp>
        <p:nvSpPr>
          <p:cNvPr id="212" name=""/>
          <p:cNvSpPr txBox="1"/>
          <p:nvPr/>
        </p:nvSpPr>
        <p:spPr>
          <a:xfrm>
            <a:off x="2653920" y="1624320"/>
            <a:ext cx="45504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m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3997080" y="2977920"/>
            <a:ext cx="36360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n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214" name="" descr=""/>
          <p:cNvPicPr/>
          <p:nvPr/>
        </p:nvPicPr>
        <p:blipFill>
          <a:blip r:embed="rId12"/>
          <a:stretch/>
        </p:blipFill>
        <p:spPr>
          <a:xfrm rot="5400000">
            <a:off x="5108400" y="1827720"/>
            <a:ext cx="1802880" cy="173160"/>
          </a:xfrm>
          <a:prstGeom prst="rect">
            <a:avLst/>
          </a:prstGeom>
          <a:ln w="0">
            <a:noFill/>
          </a:ln>
        </p:spPr>
      </p:pic>
      <p:sp>
        <p:nvSpPr>
          <p:cNvPr id="215" name=""/>
          <p:cNvSpPr txBox="1"/>
          <p:nvPr/>
        </p:nvSpPr>
        <p:spPr>
          <a:xfrm>
            <a:off x="5544720" y="1635480"/>
            <a:ext cx="45504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m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"/>
          <p:cNvGrpSpPr/>
          <p:nvPr/>
        </p:nvGrpSpPr>
        <p:grpSpPr>
          <a:xfrm>
            <a:off x="2985840" y="2081880"/>
            <a:ext cx="2121120" cy="1035360"/>
            <a:chOff x="2985840" y="2081880"/>
            <a:chExt cx="2121120" cy="1035360"/>
          </a:xfrm>
        </p:grpSpPr>
        <p:sp>
          <p:nvSpPr>
            <p:cNvPr id="217" name=""/>
            <p:cNvSpPr/>
            <p:nvPr/>
          </p:nvSpPr>
          <p:spPr>
            <a:xfrm>
              <a:off x="2985840" y="2467440"/>
              <a:ext cx="2121120" cy="649800"/>
            </a:xfrm>
            <a:prstGeom prst="roundRect">
              <a:avLst>
                <a:gd name="adj" fmla="val 50000"/>
              </a:avLst>
            </a:prstGeom>
            <a:solidFill>
              <a:srgbClr val="729fcf"/>
            </a:solidFill>
            <a:ln w="38160">
              <a:solidFill>
                <a:srgbClr val="d9d9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9080" rIns="109080" tIns="64080" bIns="640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MU Serif"/>
              </a:endParaRPr>
            </a:p>
          </p:txBody>
        </p:sp>
        <p:grpSp>
          <p:nvGrpSpPr>
            <p:cNvPr id="218" name=""/>
            <p:cNvGrpSpPr/>
            <p:nvPr/>
          </p:nvGrpSpPr>
          <p:grpSpPr>
            <a:xfrm>
              <a:off x="3502800" y="2081880"/>
              <a:ext cx="1086840" cy="385560"/>
              <a:chOff x="3502800" y="2081880"/>
              <a:chExt cx="1086840" cy="385560"/>
            </a:xfrm>
          </p:grpSpPr>
          <p:sp>
            <p:nvSpPr>
              <p:cNvPr id="219" name=""/>
              <p:cNvSpPr/>
              <p:nvPr/>
            </p:nvSpPr>
            <p:spPr>
              <a:xfrm>
                <a:off x="3502800" y="2081880"/>
                <a:ext cx="0" cy="385560"/>
              </a:xfrm>
              <a:prstGeom prst="line">
                <a:avLst/>
              </a:prstGeom>
              <a:ln w="38160">
                <a:solidFill>
                  <a:srgbClr val="d9d9c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9080" rIns="109080" tIns="64080" bIns="6408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CMU Serif"/>
                </a:endParaRPr>
              </a:p>
            </p:txBody>
          </p:sp>
          <p:sp>
            <p:nvSpPr>
              <p:cNvPr id="220" name=""/>
              <p:cNvSpPr/>
              <p:nvPr/>
            </p:nvSpPr>
            <p:spPr>
              <a:xfrm>
                <a:off x="4589640" y="2081880"/>
                <a:ext cx="0" cy="385560"/>
              </a:xfrm>
              <a:prstGeom prst="line">
                <a:avLst/>
              </a:prstGeom>
              <a:ln w="38160">
                <a:solidFill>
                  <a:srgbClr val="d9d9c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9080" rIns="109080" tIns="64080" bIns="6408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CMU Serif"/>
                </a:endParaRPr>
              </a:p>
            </p:txBody>
          </p:sp>
        </p:grpSp>
      </p:grpSp>
      <p:sp>
        <p:nvSpPr>
          <p:cNvPr id="221" name=""/>
          <p:cNvSpPr txBox="1"/>
          <p:nvPr/>
        </p:nvSpPr>
        <p:spPr>
          <a:xfrm>
            <a:off x="5511960" y="2519640"/>
            <a:ext cx="436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=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22" name=""/>
          <p:cNvSpPr/>
          <p:nvPr/>
        </p:nvSpPr>
        <p:spPr>
          <a:xfrm rot="42600">
            <a:off x="6162480" y="2444040"/>
            <a:ext cx="642240" cy="645480"/>
          </a:xfrm>
          <a:prstGeom prst="ellipse">
            <a:avLst/>
          </a:prstGeom>
          <a:solidFill>
            <a:srgbClr val="cf72b7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223" name="" descr=""/>
          <p:cNvPicPr/>
          <p:nvPr/>
        </p:nvPicPr>
        <p:blipFill>
          <a:blip r:embed="rId1"/>
          <a:stretch/>
        </p:blipFill>
        <p:spPr>
          <a:xfrm>
            <a:off x="6465960" y="2039040"/>
            <a:ext cx="34200" cy="416520"/>
          </a:xfrm>
          <a:prstGeom prst="rect">
            <a:avLst/>
          </a:prstGeom>
          <a:ln w="0">
            <a:noFill/>
          </a:ln>
        </p:spPr>
      </p:pic>
      <p:pic>
        <p:nvPicPr>
          <p:cNvPr id="224" name="" descr=""/>
          <p:cNvPicPr/>
          <p:nvPr/>
        </p:nvPicPr>
        <p:blipFill>
          <a:blip r:embed="rId2"/>
          <a:stretch/>
        </p:blipFill>
        <p:spPr>
          <a:xfrm rot="5400000">
            <a:off x="6999840" y="2548800"/>
            <a:ext cx="34200" cy="416520"/>
          </a:xfrm>
          <a:prstGeom prst="rect">
            <a:avLst/>
          </a:prstGeom>
          <a:ln w="0">
            <a:noFill/>
          </a:ln>
        </p:spPr>
      </p:pic>
      <p:sp>
        <p:nvSpPr>
          <p:cNvPr id="225" name=""/>
          <p:cNvSpPr/>
          <p:nvPr/>
        </p:nvSpPr>
        <p:spPr>
          <a:xfrm>
            <a:off x="7176240" y="2426040"/>
            <a:ext cx="651240" cy="651240"/>
          </a:xfrm>
          <a:prstGeom prst="rect">
            <a:avLst/>
          </a:prstGeom>
          <a:solidFill>
            <a:srgbClr val="729fcf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MU Serif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3"/>
          <a:stretch/>
        </p:blipFill>
        <p:spPr>
          <a:xfrm rot="5400000">
            <a:off x="8018280" y="2563560"/>
            <a:ext cx="34560" cy="416520"/>
          </a:xfrm>
          <a:prstGeom prst="rect">
            <a:avLst/>
          </a:prstGeom>
          <a:ln w="0">
            <a:noFill/>
          </a:ln>
        </p:spPr>
      </p:pic>
      <p:sp>
        <p:nvSpPr>
          <p:cNvPr id="227" name=""/>
          <p:cNvSpPr/>
          <p:nvPr/>
        </p:nvSpPr>
        <p:spPr>
          <a:xfrm rot="42600">
            <a:off x="8230320" y="2451240"/>
            <a:ext cx="642600" cy="645120"/>
          </a:xfrm>
          <a:prstGeom prst="ellipse">
            <a:avLst/>
          </a:prstGeom>
          <a:solidFill>
            <a:srgbClr val="d99a8d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MU Serif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4"/>
          <a:stretch/>
        </p:blipFill>
        <p:spPr>
          <a:xfrm>
            <a:off x="8534520" y="2045520"/>
            <a:ext cx="34200" cy="416880"/>
          </a:xfrm>
          <a:prstGeom prst="rect">
            <a:avLst/>
          </a:prstGeom>
          <a:ln w="0">
            <a:noFill/>
          </a:ln>
        </p:spPr>
      </p:pic>
      <p:sp>
        <p:nvSpPr>
          <p:cNvPr id="229" name=""/>
          <p:cNvSpPr txBox="1"/>
          <p:nvPr/>
        </p:nvSpPr>
        <p:spPr>
          <a:xfrm>
            <a:off x="3379320" y="1589400"/>
            <a:ext cx="272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i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4458960" y="1589400"/>
            <a:ext cx="281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j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6367320" y="1626840"/>
            <a:ext cx="272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i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8435880" y="1626840"/>
            <a:ext cx="281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j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617400" y="4244040"/>
            <a:ext cx="45792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≈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5511960" y="2519640"/>
            <a:ext cx="436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=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6291360" y="2557080"/>
            <a:ext cx="427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U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8368200" y="2579760"/>
            <a:ext cx="427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V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37" name=""/>
          <p:cNvSpPr/>
          <p:nvPr/>
        </p:nvSpPr>
        <p:spPr>
          <a:xfrm rot="42600">
            <a:off x="1259280" y="4167720"/>
            <a:ext cx="642600" cy="645120"/>
          </a:xfrm>
          <a:prstGeom prst="ellipse">
            <a:avLst/>
          </a:prstGeom>
          <a:solidFill>
            <a:srgbClr val="cf72b7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238" name="" descr=""/>
          <p:cNvPicPr/>
          <p:nvPr/>
        </p:nvPicPr>
        <p:blipFill>
          <a:blip r:embed="rId5"/>
          <a:stretch/>
        </p:blipFill>
        <p:spPr>
          <a:xfrm>
            <a:off x="1563480" y="3762000"/>
            <a:ext cx="34200" cy="416880"/>
          </a:xfrm>
          <a:prstGeom prst="rect">
            <a:avLst/>
          </a:prstGeom>
          <a:ln w="0">
            <a:noFill/>
          </a:ln>
        </p:spPr>
      </p:pic>
      <p:pic>
        <p:nvPicPr>
          <p:cNvPr id="239" name="" descr=""/>
          <p:cNvPicPr/>
          <p:nvPr/>
        </p:nvPicPr>
        <p:blipFill>
          <a:blip r:embed="rId6"/>
          <a:stretch/>
        </p:blipFill>
        <p:spPr>
          <a:xfrm rot="5400000">
            <a:off x="2097720" y="4271760"/>
            <a:ext cx="33840" cy="416880"/>
          </a:xfrm>
          <a:prstGeom prst="rect">
            <a:avLst/>
          </a:prstGeom>
          <a:ln w="0">
            <a:noFill/>
          </a:ln>
        </p:spPr>
      </p:pic>
      <p:sp>
        <p:nvSpPr>
          <p:cNvPr id="240" name=""/>
          <p:cNvSpPr/>
          <p:nvPr/>
        </p:nvSpPr>
        <p:spPr>
          <a:xfrm>
            <a:off x="2273760" y="4149720"/>
            <a:ext cx="651240" cy="651240"/>
          </a:xfrm>
          <a:prstGeom prst="rect">
            <a:avLst/>
          </a:prstGeom>
          <a:solidFill>
            <a:srgbClr val="729fcf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MU Serif"/>
            </a:endParaRPr>
          </a:p>
        </p:txBody>
      </p:sp>
      <p:pic>
        <p:nvPicPr>
          <p:cNvPr id="241" name="" descr=""/>
          <p:cNvPicPr/>
          <p:nvPr/>
        </p:nvPicPr>
        <p:blipFill>
          <a:blip r:embed="rId7"/>
          <a:stretch/>
        </p:blipFill>
        <p:spPr>
          <a:xfrm rot="5400000">
            <a:off x="3116160" y="4286880"/>
            <a:ext cx="33840" cy="416520"/>
          </a:xfrm>
          <a:prstGeom prst="rect">
            <a:avLst/>
          </a:prstGeom>
          <a:ln w="0">
            <a:noFill/>
          </a:ln>
        </p:spPr>
      </p:pic>
      <p:sp>
        <p:nvSpPr>
          <p:cNvPr id="242" name=""/>
          <p:cNvSpPr/>
          <p:nvPr/>
        </p:nvSpPr>
        <p:spPr>
          <a:xfrm rot="46200">
            <a:off x="3327480" y="4174200"/>
            <a:ext cx="642240" cy="645480"/>
          </a:xfrm>
          <a:prstGeom prst="ellipse">
            <a:avLst/>
          </a:prstGeom>
          <a:solidFill>
            <a:srgbClr val="d99a8d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MU Serif"/>
            </a:endParaRPr>
          </a:p>
        </p:txBody>
      </p:sp>
      <p:pic>
        <p:nvPicPr>
          <p:cNvPr id="243" name="" descr=""/>
          <p:cNvPicPr/>
          <p:nvPr/>
        </p:nvPicPr>
        <p:blipFill>
          <a:blip r:embed="rId8"/>
          <a:stretch/>
        </p:blipFill>
        <p:spPr>
          <a:xfrm>
            <a:off x="3631680" y="3769200"/>
            <a:ext cx="34200" cy="416520"/>
          </a:xfrm>
          <a:prstGeom prst="rect">
            <a:avLst/>
          </a:prstGeom>
          <a:ln w="0">
            <a:noFill/>
          </a:ln>
        </p:spPr>
      </p:pic>
      <p:sp>
        <p:nvSpPr>
          <p:cNvPr id="244" name=""/>
          <p:cNvSpPr txBox="1"/>
          <p:nvPr/>
        </p:nvSpPr>
        <p:spPr>
          <a:xfrm>
            <a:off x="1464840" y="3350520"/>
            <a:ext cx="272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i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3533040" y="3350520"/>
            <a:ext cx="281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j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1388880" y="4280400"/>
            <a:ext cx="427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U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3465720" y="4303080"/>
            <a:ext cx="427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V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48" name=""/>
          <p:cNvSpPr/>
          <p:nvPr/>
        </p:nvSpPr>
        <p:spPr>
          <a:xfrm>
            <a:off x="2798640" y="4212720"/>
            <a:ext cx="0" cy="540000"/>
          </a:xfrm>
          <a:prstGeom prst="line">
            <a:avLst/>
          </a:prstGeom>
          <a:ln w="3816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49" name=""/>
          <p:cNvSpPr/>
          <p:nvPr/>
        </p:nvSpPr>
        <p:spPr>
          <a:xfrm>
            <a:off x="2344680" y="4667760"/>
            <a:ext cx="540000" cy="0"/>
          </a:xfrm>
          <a:prstGeom prst="line">
            <a:avLst/>
          </a:prstGeom>
          <a:ln w="3816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4297320" y="4281480"/>
            <a:ext cx="436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=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51" name=""/>
          <p:cNvSpPr/>
          <p:nvPr/>
        </p:nvSpPr>
        <p:spPr>
          <a:xfrm rot="46200">
            <a:off x="4797360" y="4174200"/>
            <a:ext cx="642240" cy="645480"/>
          </a:xfrm>
          <a:prstGeom prst="ellipse">
            <a:avLst/>
          </a:prstGeom>
          <a:solidFill>
            <a:srgbClr val="cf72b7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252" name="" descr=""/>
          <p:cNvPicPr/>
          <p:nvPr/>
        </p:nvPicPr>
        <p:blipFill>
          <a:blip r:embed="rId9"/>
          <a:stretch/>
        </p:blipFill>
        <p:spPr>
          <a:xfrm>
            <a:off x="5101200" y="3769200"/>
            <a:ext cx="34560" cy="416520"/>
          </a:xfrm>
          <a:prstGeom prst="rect">
            <a:avLst/>
          </a:prstGeom>
          <a:ln w="0">
            <a:noFill/>
          </a:ln>
        </p:spPr>
      </p:pic>
      <p:pic>
        <p:nvPicPr>
          <p:cNvPr id="253" name="" descr=""/>
          <p:cNvPicPr/>
          <p:nvPr/>
        </p:nvPicPr>
        <p:blipFill>
          <a:blip r:embed="rId10"/>
          <a:stretch/>
        </p:blipFill>
        <p:spPr>
          <a:xfrm rot="5400000">
            <a:off x="5635440" y="4278600"/>
            <a:ext cx="34200" cy="417240"/>
          </a:xfrm>
          <a:prstGeom prst="rect">
            <a:avLst/>
          </a:prstGeom>
          <a:ln w="0">
            <a:noFill/>
          </a:ln>
        </p:spPr>
      </p:pic>
      <p:sp>
        <p:nvSpPr>
          <p:cNvPr id="254" name=""/>
          <p:cNvSpPr/>
          <p:nvPr/>
        </p:nvSpPr>
        <p:spPr>
          <a:xfrm rot="42600">
            <a:off x="5846400" y="4166640"/>
            <a:ext cx="642600" cy="645120"/>
          </a:xfrm>
          <a:prstGeom prst="ellipse">
            <a:avLst/>
          </a:prstGeom>
          <a:solidFill>
            <a:srgbClr val="d99a8d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MU Serif"/>
            </a:endParaRPr>
          </a:p>
        </p:txBody>
      </p:sp>
      <p:pic>
        <p:nvPicPr>
          <p:cNvPr id="255" name="" descr=""/>
          <p:cNvPicPr/>
          <p:nvPr/>
        </p:nvPicPr>
        <p:blipFill>
          <a:blip r:embed="rId11"/>
          <a:stretch/>
        </p:blipFill>
        <p:spPr>
          <a:xfrm>
            <a:off x="6150600" y="3760920"/>
            <a:ext cx="34200" cy="416880"/>
          </a:xfrm>
          <a:prstGeom prst="rect">
            <a:avLst/>
          </a:prstGeom>
          <a:ln w="0">
            <a:noFill/>
          </a:ln>
        </p:spPr>
      </p:pic>
      <p:sp>
        <p:nvSpPr>
          <p:cNvPr id="256" name=""/>
          <p:cNvSpPr txBox="1"/>
          <p:nvPr/>
        </p:nvSpPr>
        <p:spPr>
          <a:xfrm>
            <a:off x="5002560" y="3357360"/>
            <a:ext cx="272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i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6051960" y="3342600"/>
            <a:ext cx="2811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j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4926960" y="4287600"/>
            <a:ext cx="427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U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5983920" y="4295160"/>
            <a:ext cx="42768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V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260" name="" descr=""/>
          <p:cNvPicPr/>
          <p:nvPr/>
        </p:nvPicPr>
        <p:blipFill>
          <a:blip r:embed="rId12"/>
          <a:stretch/>
        </p:blipFill>
        <p:spPr>
          <a:xfrm>
            <a:off x="615240" y="1563480"/>
            <a:ext cx="2320920" cy="368280"/>
          </a:xfrm>
          <a:prstGeom prst="rect">
            <a:avLst/>
          </a:prstGeom>
          <a:ln w="0">
            <a:noFill/>
          </a:ln>
        </p:spPr>
      </p:pic>
      <p:sp>
        <p:nvSpPr>
          <p:cNvPr id="261" name=""/>
          <p:cNvSpPr txBox="1"/>
          <p:nvPr/>
        </p:nvSpPr>
        <p:spPr>
          <a:xfrm>
            <a:off x="7311240" y="2549520"/>
            <a:ext cx="40176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S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62" name=""/>
          <p:cNvSpPr/>
          <p:nvPr/>
        </p:nvSpPr>
        <p:spPr>
          <a:xfrm>
            <a:off x="1622160" y="1976400"/>
            <a:ext cx="1208880" cy="880560"/>
          </a:xfrm>
          <a:custGeom>
            <a:avLst/>
            <a:gdLst/>
            <a:ahLst/>
            <a:rect l="0" t="0" r="r" b="b"/>
            <a:pathLst>
              <a:path fill="none" w="3358" h="2446">
                <a:moveTo>
                  <a:pt x="0" y="0"/>
                </a:moveTo>
                <a:cubicBezTo>
                  <a:pt x="0" y="937"/>
                  <a:pt x="1844" y="2525"/>
                  <a:pt x="3358" y="2443"/>
                </a:cubicBezTo>
              </a:path>
            </a:pathLst>
          </a:custGeom>
          <a:ln w="19080">
            <a:solidFill>
              <a:srgbClr val="d9d9ce"/>
            </a:solidFill>
            <a:round/>
            <a:tailEnd len="med" type="triangle" w="med"/>
          </a:ln>
        </p:spPr>
        <p:txBody>
          <a:bodyPr lIns="99360" rIns="99360" tIns="54360" bIns="5436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263" name="" descr=""/>
          <p:cNvPicPr/>
          <p:nvPr/>
        </p:nvPicPr>
        <p:blipFill>
          <a:blip r:embed="rId13"/>
          <a:stretch/>
        </p:blipFill>
        <p:spPr>
          <a:xfrm>
            <a:off x="4078080" y="5112360"/>
            <a:ext cx="5274000" cy="372240"/>
          </a:xfrm>
          <a:prstGeom prst="rect">
            <a:avLst/>
          </a:prstGeom>
          <a:ln w="0">
            <a:noFill/>
          </a:ln>
        </p:spPr>
      </p:pic>
      <p:sp>
        <p:nvSpPr>
          <p:cNvPr id="264" name=""/>
          <p:cNvSpPr txBox="1"/>
          <p:nvPr/>
        </p:nvSpPr>
        <p:spPr>
          <a:xfrm>
            <a:off x="5443920" y="3966120"/>
            <a:ext cx="365040" cy="52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CMU Serif"/>
              </a:rPr>
              <a:t>d</a:t>
            </a:r>
            <a:endParaRPr b="0" lang="en-US" sz="2600" spc="-1" strike="noStrike">
              <a:solidFill>
                <a:srgbClr val="ffffff"/>
              </a:solidFill>
              <a:latin typeface="CMU Serif"/>
            </a:endParaRPr>
          </a:p>
        </p:txBody>
      </p:sp>
      <p:sp>
        <p:nvSpPr>
          <p:cNvPr id="265" name=""/>
          <p:cNvSpPr/>
          <p:nvPr/>
        </p:nvSpPr>
        <p:spPr>
          <a:xfrm>
            <a:off x="6749280" y="4206240"/>
            <a:ext cx="1432080" cy="768600"/>
          </a:xfrm>
          <a:custGeom>
            <a:avLst/>
            <a:gdLst/>
            <a:ahLst/>
            <a:rect l="0" t="0" r="r" b="b"/>
            <a:pathLst>
              <a:path fill="none" w="3978" h="2135">
                <a:moveTo>
                  <a:pt x="3978" y="2135"/>
                </a:moveTo>
                <a:cubicBezTo>
                  <a:pt x="3717" y="1556"/>
                  <a:pt x="2806" y="229"/>
                  <a:pt x="2022" y="32"/>
                </a:cubicBezTo>
                <a:cubicBezTo>
                  <a:pt x="1466" y="-116"/>
                  <a:pt x="0" y="303"/>
                  <a:pt x="0" y="303"/>
                </a:cubicBezTo>
              </a:path>
            </a:pathLst>
          </a:custGeom>
          <a:ln w="29160">
            <a:solidFill>
              <a:srgbClr val="d9d9ce"/>
            </a:solidFill>
            <a:round/>
            <a:tailEnd len="med" type="triangle" w="med"/>
          </a:ln>
        </p:spPr>
        <p:txBody>
          <a:bodyPr lIns="104400" rIns="104400" tIns="59400" bIns="594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CMU Serif"/>
            </a:endParaRPr>
          </a:p>
        </p:txBody>
      </p:sp>
      <p:pic>
        <p:nvPicPr>
          <p:cNvPr id="266" name="" descr=""/>
          <p:cNvPicPr/>
          <p:nvPr/>
        </p:nvPicPr>
        <p:blipFill>
          <a:blip r:embed="rId14"/>
          <a:stretch/>
        </p:blipFill>
        <p:spPr>
          <a:xfrm>
            <a:off x="6784560" y="3669480"/>
            <a:ext cx="2565720" cy="356760"/>
          </a:xfrm>
          <a:prstGeom prst="rect">
            <a:avLst/>
          </a:prstGeom>
          <a:ln w="0">
            <a:noFill/>
          </a:ln>
        </p:spPr>
      </p:pic>
      <p:sp>
        <p:nvSpPr>
          <p:cNvPr id="267" name=""/>
          <p:cNvSpPr txBox="1"/>
          <p:nvPr/>
        </p:nvSpPr>
        <p:spPr>
          <a:xfrm>
            <a:off x="63720" y="360"/>
            <a:ext cx="9897480" cy="902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pPr algn="ctr"/>
            <a:r>
              <a:rPr b="1" lang="en-US" sz="2600" spc="-1" strike="noStrike">
                <a:solidFill>
                  <a:srgbClr val="d9d9ce"/>
                </a:solidFill>
                <a:latin typeface="Noto Sans"/>
              </a:rPr>
              <a:t>Tensor Networks Revision/Introduction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  <a:p>
            <a:pPr algn="ctr"/>
            <a:r>
              <a:rPr b="1" lang="en-US" sz="2600" spc="-1" strike="noStrike">
                <a:solidFill>
                  <a:srgbClr val="d9d9ce"/>
                </a:solidFill>
                <a:latin typeface="Noto Sans"/>
              </a:rPr>
              <a:t> 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453240" y="380880"/>
            <a:ext cx="5794200" cy="452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pPr algn="ctr"/>
            <a:r>
              <a:rPr b="0" lang="en-US" sz="2600" spc="-1" strike="noStrike">
                <a:solidFill>
                  <a:srgbClr val="b3b3a9"/>
                </a:solidFill>
                <a:latin typeface="Noto Sans"/>
              </a:rPr>
              <a:t>Hilbert space is a small(er) place!</a:t>
            </a:r>
            <a:endParaRPr b="0" lang="en-US" sz="2600" spc="-1" strike="noStrike">
              <a:solidFill>
                <a:srgbClr val="ffffff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2024-07-01T16:12:17Z</dcterms:created>
  <dc:creator/>
  <dc:description/>
  <dc:language>en-US</dc:language>
  <cp:lastModifiedBy/>
  <cp:lastPrinted>2024-07-01T17:40:37Z</cp:lastPrinted>
  <dcterms:modified xsi:type="dcterms:W3CDTF">2024-11-13T15:19:33Z</dcterms:modified>
  <cp:revision>27</cp:revision>
  <dc:subject/>
  <dc:title/>
</cp:coreProperties>
</file>