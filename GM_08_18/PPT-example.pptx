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0" r:id="rId2"/>
    <p:sldId id="259" r:id="rId3"/>
    <p:sldId id="261" r:id="rId4"/>
    <p:sldId id="264" r:id="rId5"/>
    <p:sldId id="262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C5B5"/>
    <a:srgbClr val="DD9D95"/>
    <a:srgbClr val="89A09C"/>
    <a:srgbClr val="E2B78A"/>
    <a:srgbClr val="E19449"/>
    <a:srgbClr val="B2A3B2"/>
    <a:srgbClr val="856C93"/>
    <a:srgbClr val="B6C3B4"/>
    <a:srgbClr val="9DAF9A"/>
    <a:srgbClr val="0223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496" y="17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94" d="100"/>
          <a:sy n="94" d="100"/>
        </p:scale>
        <p:origin x="283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706D5E7-F57F-6848-81F8-474F889305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9ACAA6-2954-E84E-9924-BFB6FEE1A1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B1811-519D-C344-BF62-78406C795C10}" type="datetimeFigureOut">
              <a:rPr lang="fr-FR" smtClean="0"/>
              <a:t>07/02/2025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942F76-A327-B341-BB71-E4E580025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558755-36E7-4A4E-B37D-72ADBFF322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B0480-8368-A844-B327-25DAA8D08E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967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26935-9A0E-2941-88F2-DACC025A1F34}" type="datetimeFigureOut">
              <a:rPr lang="fr-FR" smtClean="0"/>
              <a:t>07/02/2025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38783-FE6D-2747-9F29-5D62998AFE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39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38783-FE6D-2747-9F29-5D62998AFEF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67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38783-FE6D-2747-9F29-5D62998AFEF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9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32400" y="1260476"/>
            <a:ext cx="5384800" cy="2366962"/>
          </a:xfrm>
        </p:spPr>
        <p:txBody>
          <a:bodyPr anchor="b">
            <a:normAutofit/>
          </a:bodyPr>
          <a:lstStyle>
            <a:lvl1pPr algn="l">
              <a:defRPr sz="41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 err="1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32400" y="4389438"/>
            <a:ext cx="5435600" cy="473076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 dirty="0" err="1"/>
              <a:t>Author</a:t>
            </a:r>
            <a:endParaRPr lang="en-US" dirty="0"/>
          </a:p>
        </p:txBody>
      </p:sp>
      <p:sp>
        <p:nvSpPr>
          <p:cNvPr id="12" name="Espace réservé de l'élément multimédia 11">
            <a:extLst>
              <a:ext uri="{FF2B5EF4-FFF2-40B4-BE49-F238E27FC236}">
                <a16:creationId xmlns:a16="http://schemas.microsoft.com/office/drawing/2014/main" id="{730A0A83-EBE7-BF46-8396-BF267358934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22300" y="431800"/>
            <a:ext cx="4292600" cy="59817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BF9D9EE-F4C4-9A45-B850-60267F7B6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2400" y="4956175"/>
            <a:ext cx="2984500" cy="4826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 marL="9144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 marL="13716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 marL="18288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fr-CA" dirty="0"/>
              <a:t>Date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698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ark">
    <p:bg>
      <p:bgPr>
        <a:solidFill>
          <a:srgbClr val="03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32400" y="1260476"/>
            <a:ext cx="5384800" cy="2366962"/>
          </a:xfrm>
        </p:spPr>
        <p:txBody>
          <a:bodyPr anchor="b">
            <a:normAutofit/>
          </a:bodyPr>
          <a:lstStyle>
            <a:lvl1pPr algn="l">
              <a:defRPr sz="41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 err="1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32400" y="4389438"/>
            <a:ext cx="5435600" cy="473076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 dirty="0" err="1"/>
              <a:t>Author</a:t>
            </a:r>
            <a:endParaRPr lang="en-US" dirty="0"/>
          </a:p>
        </p:txBody>
      </p:sp>
      <p:sp>
        <p:nvSpPr>
          <p:cNvPr id="12" name="Espace réservé de l'élément multimédia 11">
            <a:extLst>
              <a:ext uri="{FF2B5EF4-FFF2-40B4-BE49-F238E27FC236}">
                <a16:creationId xmlns:a16="http://schemas.microsoft.com/office/drawing/2014/main" id="{730A0A83-EBE7-BF46-8396-BF267358934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22300" y="431800"/>
            <a:ext cx="4292600" cy="59817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BF9D9EE-F4C4-9A45-B850-60267F7B6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2400" y="4956175"/>
            <a:ext cx="2984500" cy="4826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 marL="9144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 marL="13716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 marL="18288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fr-CA" dirty="0"/>
              <a:t>Date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745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32400" y="1260476"/>
            <a:ext cx="5384800" cy="2366962"/>
          </a:xfrm>
        </p:spPr>
        <p:txBody>
          <a:bodyPr anchor="b">
            <a:normAutofit/>
          </a:bodyPr>
          <a:lstStyle>
            <a:lvl1pPr algn="l">
              <a:defRPr sz="41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 err="1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32400" y="4389438"/>
            <a:ext cx="5435600" cy="473076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 dirty="0" err="1"/>
              <a:t>Author</a:t>
            </a:r>
            <a:endParaRPr lang="en-US" dirty="0"/>
          </a:p>
        </p:txBody>
      </p:sp>
      <p:sp>
        <p:nvSpPr>
          <p:cNvPr id="12" name="Espace réservé de l'élément multimédia 11">
            <a:extLst>
              <a:ext uri="{FF2B5EF4-FFF2-40B4-BE49-F238E27FC236}">
                <a16:creationId xmlns:a16="http://schemas.microsoft.com/office/drawing/2014/main" id="{730A0A83-EBE7-BF46-8396-BF267358934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22300" y="431800"/>
            <a:ext cx="4292600" cy="59817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BF9D9EE-F4C4-9A45-B850-60267F7B6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2400" y="4956175"/>
            <a:ext cx="2984500" cy="4826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 marL="9144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 marL="13716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 marL="1828800" indent="0">
              <a:buNone/>
              <a:defRPr sz="22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fr-CA" dirty="0"/>
              <a:t>Date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817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2842E-8076-3B48-BD18-8C5E355C79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2638425"/>
            <a:ext cx="10515600" cy="1325563"/>
          </a:xfrm>
        </p:spPr>
        <p:txBody>
          <a:bodyPr>
            <a:normAutofit/>
          </a:bodyPr>
          <a:lstStyle>
            <a:lvl1pPr>
              <a:defRPr sz="41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 err="1"/>
              <a:t>Title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24AD1C1-E190-514E-882C-25BB1F6F96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4040188"/>
            <a:ext cx="10515600" cy="419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 err="1"/>
              <a:t>Authors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98AE47B-48AC-3943-945B-ADEF81B69E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4508500"/>
            <a:ext cx="2882900" cy="4191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/>
              <a:t>Date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182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dark">
    <p:bg>
      <p:bgPr>
        <a:solidFill>
          <a:srgbClr val="03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2842E-8076-3B48-BD18-8C5E355C79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2638425"/>
            <a:ext cx="10515600" cy="1325563"/>
          </a:xfrm>
        </p:spPr>
        <p:txBody>
          <a:bodyPr>
            <a:normAutofit/>
          </a:bodyPr>
          <a:lstStyle>
            <a:lvl1pPr>
              <a:defRPr sz="41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 err="1"/>
              <a:t>Title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24AD1C1-E190-514E-882C-25BB1F6F96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4040188"/>
            <a:ext cx="10515600" cy="419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 err="1"/>
              <a:t>Authors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98AE47B-48AC-3943-945B-ADEF81B69E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4508500"/>
            <a:ext cx="2882900" cy="4191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/>
              <a:t>Date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404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2842E-8076-3B48-BD18-8C5E355C79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2638425"/>
            <a:ext cx="10515600" cy="1325563"/>
          </a:xfrm>
        </p:spPr>
        <p:txBody>
          <a:bodyPr>
            <a:normAutofit/>
          </a:bodyPr>
          <a:lstStyle>
            <a:lvl1pPr>
              <a:defRPr sz="41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 err="1"/>
              <a:t>Title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24AD1C1-E190-514E-882C-25BB1F6F96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4040188"/>
            <a:ext cx="10515600" cy="419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 err="1"/>
              <a:t>Authors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98AE47B-48AC-3943-945B-ADEF81B69E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4508500"/>
            <a:ext cx="2882900" cy="4191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/>
              <a:t>Date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430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77825"/>
            <a:ext cx="10515600" cy="561975"/>
          </a:xfrm>
        </p:spPr>
        <p:txBody>
          <a:bodyPr>
            <a:normAutofit/>
          </a:bodyPr>
          <a:lstStyle>
            <a:lvl1pPr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458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dark">
    <p:bg>
      <p:bgPr>
        <a:solidFill>
          <a:srgbClr val="03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77825"/>
            <a:ext cx="10515600" cy="561975"/>
          </a:xfrm>
        </p:spPr>
        <p:txBody>
          <a:bodyPr>
            <a:normAutofit/>
          </a:bodyPr>
          <a:lstStyle>
            <a:lvl1pPr>
              <a:defRPr sz="26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083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77825"/>
            <a:ext cx="10515600" cy="561975"/>
          </a:xfrm>
        </p:spPr>
        <p:txBody>
          <a:bodyPr>
            <a:normAutofit/>
          </a:bodyPr>
          <a:lstStyle>
            <a:lvl1pPr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188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2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77825"/>
            <a:ext cx="10515600" cy="561975"/>
          </a:xfrm>
        </p:spPr>
        <p:txBody>
          <a:bodyPr>
            <a:normAutofit/>
          </a:bodyPr>
          <a:lstStyle>
            <a:lvl1pPr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EF70246-D615-BC48-AC45-5006E34606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936626"/>
            <a:ext cx="10515600" cy="342900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 err="1"/>
              <a:t>Subtitle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713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2 dark">
    <p:bg>
      <p:bgPr>
        <a:solidFill>
          <a:srgbClr val="03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77825"/>
            <a:ext cx="10515600" cy="561975"/>
          </a:xfrm>
        </p:spPr>
        <p:txBody>
          <a:bodyPr>
            <a:normAutofit/>
          </a:bodyPr>
          <a:lstStyle>
            <a:lvl1pPr>
              <a:defRPr sz="26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EF70246-D615-BC48-AC45-5006E34606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936626"/>
            <a:ext cx="10515600" cy="342900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 err="1"/>
              <a:t>Subtitle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4817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2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77825"/>
            <a:ext cx="10515600" cy="561975"/>
          </a:xfrm>
        </p:spPr>
        <p:txBody>
          <a:bodyPr>
            <a:normAutofit/>
          </a:bodyPr>
          <a:lstStyle>
            <a:lvl1pPr>
              <a:defRPr sz="2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EF70246-D615-BC48-AC45-5006E34606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936626"/>
            <a:ext cx="10515600" cy="342900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pPr lvl="0"/>
            <a:r>
              <a:rPr lang="fr-CA" dirty="0" err="1"/>
              <a:t>Subtitle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6048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624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dark">
    <p:bg>
      <p:bgPr>
        <a:solidFill>
          <a:srgbClr val="03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DFDAD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2346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bei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31600" y="6419850"/>
            <a:ext cx="685800" cy="365125"/>
          </a:xfrm>
        </p:spPr>
        <p:txBody>
          <a:bodyPr/>
          <a:lstStyle>
            <a:lvl1pPr>
              <a:defRPr sz="1600">
                <a:solidFill>
                  <a:srgbClr val="031519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9E22D49-BF13-2741-91FE-84C72DE80FE8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877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A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D6642-9470-8A4E-A02C-E34142A2D3A0}" type="datetimeFigureOut">
              <a:rPr lang="fr-FR" smtClean="0"/>
              <a:t>07/02/2025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22D49-BF13-2741-91FE-84C72DE80F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32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5" r:id="rId3"/>
    <p:sldLayoutId id="2147483667" r:id="rId4"/>
    <p:sldLayoutId id="2147483671" r:id="rId5"/>
    <p:sldLayoutId id="2147483676" r:id="rId6"/>
    <p:sldLayoutId id="2147483668" r:id="rId7"/>
    <p:sldLayoutId id="2147483672" r:id="rId8"/>
    <p:sldLayoutId id="2147483677" r:id="rId9"/>
    <p:sldLayoutId id="2147483666" r:id="rId10"/>
    <p:sldLayoutId id="2147483673" r:id="rId11"/>
    <p:sldLayoutId id="2147483678" r:id="rId12"/>
    <p:sldLayoutId id="2147483669" r:id="rId13"/>
    <p:sldLayoutId id="2147483674" r:id="rId14"/>
    <p:sldLayoutId id="214748367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F71A1-1607-3D41-9FB8-5E29C77A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template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8C6EE4-92C1-2041-B906-DB44B8FFD3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/>
              <a:t>Authors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701F83-2E08-9646-8F91-4BE17D7BDF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/>
              <a:t>November</a:t>
            </a:r>
            <a:r>
              <a:rPr lang="fr-FR" dirty="0"/>
              <a:t> 22nd, 2024</a:t>
            </a:r>
          </a:p>
        </p:txBody>
      </p:sp>
    </p:spTree>
    <p:extLst>
      <p:ext uri="{BB962C8B-B14F-4D97-AF65-F5344CB8AC3E}">
        <p14:creationId xmlns:p14="http://schemas.microsoft.com/office/powerpoint/2010/main" val="4257278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A4CB4B-20AB-F344-A870-D7D912632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template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6121E-188B-0B42-9EBB-A837A66B9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Author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0CA67D-FE46-D84C-B90E-5F3A2E44E3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 err="1"/>
              <a:t>November</a:t>
            </a:r>
            <a:r>
              <a:rPr lang="fr-FR" dirty="0"/>
              <a:t> 22nd, 2024</a:t>
            </a:r>
          </a:p>
        </p:txBody>
      </p:sp>
      <p:pic>
        <p:nvPicPr>
          <p:cNvPr id="1026" name="Picture 2" descr="The quantum computer exists, but is not all that powerful">
            <a:extLst>
              <a:ext uri="{FF2B5EF4-FFF2-40B4-BE49-F238E27FC236}">
                <a16:creationId xmlns:a16="http://schemas.microsoft.com/office/drawing/2014/main" id="{B92B1FB6-A70B-9643-A04F-EF3B376F57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80" t="1668" r="10376" b="1462"/>
          <a:stretch/>
        </p:blipFill>
        <p:spPr bwMode="auto">
          <a:xfrm>
            <a:off x="622298" y="444500"/>
            <a:ext cx="4292604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01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5F8985-ED95-1948-BA16-108D9846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Color</a:t>
            </a:r>
            <a:r>
              <a:rPr lang="fr-FR" dirty="0"/>
              <a:t> palette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C8A2D-1A11-9840-909F-21B79B822B25}"/>
              </a:ext>
            </a:extLst>
          </p:cNvPr>
          <p:cNvSpPr/>
          <p:nvPr/>
        </p:nvSpPr>
        <p:spPr>
          <a:xfrm>
            <a:off x="1468795" y="1879102"/>
            <a:ext cx="644770" cy="644770"/>
          </a:xfrm>
          <a:prstGeom prst="rect">
            <a:avLst/>
          </a:prstGeom>
          <a:solidFill>
            <a:srgbClr val="D75F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86AD5-0EC6-5D4C-ACEB-7485F8289908}"/>
              </a:ext>
            </a:extLst>
          </p:cNvPr>
          <p:cNvSpPr/>
          <p:nvPr/>
        </p:nvSpPr>
        <p:spPr>
          <a:xfrm>
            <a:off x="2922457" y="1879102"/>
            <a:ext cx="644770" cy="644770"/>
          </a:xfrm>
          <a:prstGeom prst="rect">
            <a:avLst/>
          </a:prstGeom>
          <a:solidFill>
            <a:srgbClr val="005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88F198-05A5-C14A-AFA6-49D5E75BA8DF}"/>
              </a:ext>
            </a:extLst>
          </p:cNvPr>
          <p:cNvSpPr txBox="1"/>
          <p:nvPr/>
        </p:nvSpPr>
        <p:spPr>
          <a:xfrm>
            <a:off x="1329354" y="2524036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#C8665C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E527F05-B374-C046-844B-330B5D8833B1}"/>
              </a:ext>
            </a:extLst>
          </p:cNvPr>
          <p:cNvSpPr txBox="1"/>
          <p:nvPr/>
        </p:nvSpPr>
        <p:spPr>
          <a:xfrm>
            <a:off x="2808664" y="2495475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#215227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B7324-B8F9-9F44-8932-7B49E5C92C65}"/>
              </a:ext>
            </a:extLst>
          </p:cNvPr>
          <p:cNvSpPr/>
          <p:nvPr/>
        </p:nvSpPr>
        <p:spPr>
          <a:xfrm>
            <a:off x="1232671" y="3294833"/>
            <a:ext cx="644770" cy="644770"/>
          </a:xfrm>
          <a:prstGeom prst="rect">
            <a:avLst/>
          </a:prstGeom>
          <a:solidFill>
            <a:srgbClr val="0315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1A5EDF-C41E-AA48-B85C-8D87D4077B80}"/>
              </a:ext>
            </a:extLst>
          </p:cNvPr>
          <p:cNvSpPr/>
          <p:nvPr/>
        </p:nvSpPr>
        <p:spPr>
          <a:xfrm>
            <a:off x="2204195" y="3294833"/>
            <a:ext cx="644770" cy="644770"/>
          </a:xfrm>
          <a:prstGeom prst="rect">
            <a:avLst/>
          </a:prstGeom>
          <a:solidFill>
            <a:srgbClr val="DFDAD1"/>
          </a:solidFill>
          <a:ln>
            <a:solidFill>
              <a:srgbClr val="0315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FBA105-7DFF-8249-9748-E41955773644}"/>
              </a:ext>
            </a:extLst>
          </p:cNvPr>
          <p:cNvSpPr/>
          <p:nvPr/>
        </p:nvSpPr>
        <p:spPr>
          <a:xfrm>
            <a:off x="3175719" y="3294833"/>
            <a:ext cx="644770" cy="64477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E3A2348-B185-A548-A2D4-A2FAE83E6665}"/>
              </a:ext>
            </a:extLst>
          </p:cNvPr>
          <p:cNvSpPr txBox="1"/>
          <p:nvPr/>
        </p:nvSpPr>
        <p:spPr>
          <a:xfrm>
            <a:off x="1118878" y="3905924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#071519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C6936F6-44DC-0E40-8B85-B2D556A7A343}"/>
              </a:ext>
            </a:extLst>
          </p:cNvPr>
          <p:cNvSpPr txBox="1"/>
          <p:nvPr/>
        </p:nvSpPr>
        <p:spPr>
          <a:xfrm>
            <a:off x="2008649" y="3918583"/>
            <a:ext cx="1035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#DFDAD1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4F475C4-A6AA-3E43-94C6-A3CC6754936E}"/>
              </a:ext>
            </a:extLst>
          </p:cNvPr>
          <p:cNvSpPr txBox="1"/>
          <p:nvPr/>
        </p:nvSpPr>
        <p:spPr>
          <a:xfrm>
            <a:off x="3065909" y="3918583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#919191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D9AB691-8FAA-244F-AC90-3D642DADD9D4}"/>
              </a:ext>
            </a:extLst>
          </p:cNvPr>
          <p:cNvSpPr txBox="1"/>
          <p:nvPr/>
        </p:nvSpPr>
        <p:spPr>
          <a:xfrm>
            <a:off x="1614310" y="1252795"/>
            <a:ext cx="1824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Principal </a:t>
            </a:r>
            <a:r>
              <a:rPr lang="fr-FR" sz="20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colors</a:t>
            </a:r>
            <a:endParaRPr lang="fr-FR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B8E95C3-C39A-3C4C-A816-49D342471E28}"/>
              </a:ext>
            </a:extLst>
          </p:cNvPr>
          <p:cNvSpPr txBox="1"/>
          <p:nvPr/>
        </p:nvSpPr>
        <p:spPr>
          <a:xfrm>
            <a:off x="1312945" y="2786837"/>
            <a:ext cx="2427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« Black and white »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7FEE90F-E0B0-8F4E-A800-24DD42289D1E}"/>
              </a:ext>
            </a:extLst>
          </p:cNvPr>
          <p:cNvSpPr txBox="1"/>
          <p:nvPr/>
        </p:nvSpPr>
        <p:spPr>
          <a:xfrm>
            <a:off x="1535762" y="4219723"/>
            <a:ext cx="1981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Secondary</a:t>
            </a:r>
            <a:r>
              <a:rPr lang="fr-FR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0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colors</a:t>
            </a:r>
            <a:endParaRPr lang="fr-FR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31C863B-44F3-184B-ADDA-C33883497960}"/>
              </a:ext>
            </a:extLst>
          </p:cNvPr>
          <p:cNvSpPr txBox="1"/>
          <p:nvPr/>
        </p:nvSpPr>
        <p:spPr>
          <a:xfrm>
            <a:off x="8443292" y="1245018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Colormap</a:t>
            </a:r>
            <a:endParaRPr lang="fr-FR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3BDD4D-8A95-E14E-8ED4-13CD2E4D74DE}"/>
              </a:ext>
            </a:extLst>
          </p:cNvPr>
          <p:cNvSpPr/>
          <p:nvPr/>
        </p:nvSpPr>
        <p:spPr>
          <a:xfrm>
            <a:off x="724694" y="4879117"/>
            <a:ext cx="644770" cy="644770"/>
          </a:xfrm>
          <a:prstGeom prst="rect">
            <a:avLst/>
          </a:prstGeom>
          <a:solidFill>
            <a:srgbClr val="9DAF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C0ADDF-9EBC-5A40-85F3-E4AED07ED96F}"/>
              </a:ext>
            </a:extLst>
          </p:cNvPr>
          <p:cNvSpPr/>
          <p:nvPr/>
        </p:nvSpPr>
        <p:spPr>
          <a:xfrm>
            <a:off x="2194586" y="4879117"/>
            <a:ext cx="644770" cy="644770"/>
          </a:xfrm>
          <a:prstGeom prst="rect">
            <a:avLst/>
          </a:prstGeom>
          <a:solidFill>
            <a:srgbClr val="85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889F37-4C7D-8949-BF4A-EABC166EBE38}"/>
              </a:ext>
            </a:extLst>
          </p:cNvPr>
          <p:cNvSpPr/>
          <p:nvPr/>
        </p:nvSpPr>
        <p:spPr>
          <a:xfrm>
            <a:off x="3659838" y="4879117"/>
            <a:ext cx="644770" cy="644770"/>
          </a:xfrm>
          <a:prstGeom prst="rect">
            <a:avLst/>
          </a:prstGeom>
          <a:solidFill>
            <a:srgbClr val="E194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3BE1AD2-53B7-D54A-B08E-2043F3679737}"/>
              </a:ext>
            </a:extLst>
          </p:cNvPr>
          <p:cNvSpPr txBox="1"/>
          <p:nvPr/>
        </p:nvSpPr>
        <p:spPr>
          <a:xfrm>
            <a:off x="1292954" y="4844381"/>
            <a:ext cx="92685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#9DAF9A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DF91950-A674-994D-9D54-FC08343012FC}"/>
              </a:ext>
            </a:extLst>
          </p:cNvPr>
          <p:cNvSpPr txBox="1"/>
          <p:nvPr/>
        </p:nvSpPr>
        <p:spPr>
          <a:xfrm>
            <a:off x="2752365" y="4857040"/>
            <a:ext cx="8467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#856C93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66AE628-1A5E-4245-AE8A-84815F3D30CC}"/>
              </a:ext>
            </a:extLst>
          </p:cNvPr>
          <p:cNvSpPr txBox="1"/>
          <p:nvPr/>
        </p:nvSpPr>
        <p:spPr>
          <a:xfrm>
            <a:off x="4222717" y="4857040"/>
            <a:ext cx="84029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#E19449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BB71717-39F0-984C-AD65-60F53D81DB40}"/>
              </a:ext>
            </a:extLst>
          </p:cNvPr>
          <p:cNvSpPr txBox="1"/>
          <p:nvPr/>
        </p:nvSpPr>
        <p:spPr>
          <a:xfrm>
            <a:off x="1292954" y="5605205"/>
            <a:ext cx="90120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#B6C3B4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80F20B1-597E-6A47-99EF-43FE6F9835BD}"/>
              </a:ext>
            </a:extLst>
          </p:cNvPr>
          <p:cNvSpPr txBox="1"/>
          <p:nvPr/>
        </p:nvSpPr>
        <p:spPr>
          <a:xfrm>
            <a:off x="2752365" y="5617864"/>
            <a:ext cx="90601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#B2A3B2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2909C02-87FF-B54D-A4D4-32D9C56E68C8}"/>
              </a:ext>
            </a:extLst>
          </p:cNvPr>
          <p:cNvSpPr txBox="1"/>
          <p:nvPr/>
        </p:nvSpPr>
        <p:spPr>
          <a:xfrm>
            <a:off x="4222717" y="5617864"/>
            <a:ext cx="8947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#E2B78A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436D22-C259-864D-AFCE-F235DAF8136A}"/>
              </a:ext>
            </a:extLst>
          </p:cNvPr>
          <p:cNvSpPr/>
          <p:nvPr/>
        </p:nvSpPr>
        <p:spPr>
          <a:xfrm>
            <a:off x="724694" y="5652609"/>
            <a:ext cx="644770" cy="644770"/>
          </a:xfrm>
          <a:prstGeom prst="rect">
            <a:avLst/>
          </a:prstGeom>
          <a:solidFill>
            <a:srgbClr val="B6C3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F2EA48-9D87-174C-834C-0499D32B8052}"/>
              </a:ext>
            </a:extLst>
          </p:cNvPr>
          <p:cNvSpPr/>
          <p:nvPr/>
        </p:nvSpPr>
        <p:spPr>
          <a:xfrm>
            <a:off x="2194586" y="5652609"/>
            <a:ext cx="644770" cy="644770"/>
          </a:xfrm>
          <a:prstGeom prst="rect">
            <a:avLst/>
          </a:prstGeom>
          <a:solidFill>
            <a:srgbClr val="B2A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22D74C-2ED7-1642-B956-39015E08F7B5}"/>
              </a:ext>
            </a:extLst>
          </p:cNvPr>
          <p:cNvSpPr/>
          <p:nvPr/>
        </p:nvSpPr>
        <p:spPr>
          <a:xfrm>
            <a:off x="3659838" y="5652609"/>
            <a:ext cx="644770" cy="644770"/>
          </a:xfrm>
          <a:prstGeom prst="rect">
            <a:avLst/>
          </a:prstGeom>
          <a:solidFill>
            <a:srgbClr val="E2B7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E6CC39-B689-A44C-97F5-CB67490714BD}"/>
              </a:ext>
            </a:extLst>
          </p:cNvPr>
          <p:cNvSpPr/>
          <p:nvPr/>
        </p:nvSpPr>
        <p:spPr>
          <a:xfrm>
            <a:off x="6934172" y="2049338"/>
            <a:ext cx="644770" cy="644770"/>
          </a:xfrm>
          <a:prstGeom prst="rect">
            <a:avLst/>
          </a:prstGeom>
          <a:solidFill>
            <a:srgbClr val="532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7D3E8C-AB2F-9942-AD96-0C7877AB275E}"/>
              </a:ext>
            </a:extLst>
          </p:cNvPr>
          <p:cNvSpPr/>
          <p:nvPr/>
        </p:nvSpPr>
        <p:spPr>
          <a:xfrm>
            <a:off x="7560146" y="2052535"/>
            <a:ext cx="644770" cy="644770"/>
          </a:xfrm>
          <a:prstGeom prst="rect">
            <a:avLst/>
          </a:prstGeom>
          <a:solidFill>
            <a:srgbClr val="753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9824FC-7C5D-124B-B546-EC9902637840}"/>
              </a:ext>
            </a:extLst>
          </p:cNvPr>
          <p:cNvSpPr/>
          <p:nvPr/>
        </p:nvSpPr>
        <p:spPr>
          <a:xfrm>
            <a:off x="8186120" y="2052535"/>
            <a:ext cx="644770" cy="644770"/>
          </a:xfrm>
          <a:prstGeom prst="rect">
            <a:avLst/>
          </a:prstGeom>
          <a:solidFill>
            <a:srgbClr val="A54B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A63E26-5D32-274F-BA97-48189CC37B76}"/>
              </a:ext>
            </a:extLst>
          </p:cNvPr>
          <p:cNvSpPr/>
          <p:nvPr/>
        </p:nvSpPr>
        <p:spPr>
          <a:xfrm>
            <a:off x="8812094" y="2052535"/>
            <a:ext cx="644770" cy="644770"/>
          </a:xfrm>
          <a:prstGeom prst="rect">
            <a:avLst/>
          </a:prstGeom>
          <a:solidFill>
            <a:srgbClr val="D75F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69DC18-6B08-1447-A54A-FB09C05DDFC3}"/>
              </a:ext>
            </a:extLst>
          </p:cNvPr>
          <p:cNvSpPr/>
          <p:nvPr/>
        </p:nvSpPr>
        <p:spPr>
          <a:xfrm>
            <a:off x="9431888" y="2052535"/>
            <a:ext cx="644770" cy="644770"/>
          </a:xfrm>
          <a:prstGeom prst="rect">
            <a:avLst/>
          </a:prstGeom>
          <a:solidFill>
            <a:srgbClr val="DD8E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43C72D-1DF6-BB40-A491-07239509CEB3}"/>
              </a:ext>
            </a:extLst>
          </p:cNvPr>
          <p:cNvSpPr/>
          <p:nvPr/>
        </p:nvSpPr>
        <p:spPr>
          <a:xfrm>
            <a:off x="10057862" y="2052535"/>
            <a:ext cx="644770" cy="644770"/>
          </a:xfrm>
          <a:prstGeom prst="rect">
            <a:avLst/>
          </a:prstGeom>
          <a:solidFill>
            <a:srgbClr val="DFC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6812EA-43F2-0040-ADDA-5F1566D015D0}"/>
              </a:ext>
            </a:extLst>
          </p:cNvPr>
          <p:cNvSpPr/>
          <p:nvPr/>
        </p:nvSpPr>
        <p:spPr>
          <a:xfrm>
            <a:off x="10677656" y="2052535"/>
            <a:ext cx="644770" cy="644770"/>
          </a:xfrm>
          <a:prstGeom prst="rect">
            <a:avLst/>
          </a:prstGeom>
          <a:solidFill>
            <a:srgbClr val="E1CD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727D7A-10C7-184C-83AD-B8398FDDDF3B}"/>
              </a:ext>
            </a:extLst>
          </p:cNvPr>
          <p:cNvSpPr/>
          <p:nvPr/>
        </p:nvSpPr>
        <p:spPr>
          <a:xfrm>
            <a:off x="6915376" y="2890307"/>
            <a:ext cx="644770" cy="644770"/>
          </a:xfrm>
          <a:prstGeom prst="rect">
            <a:avLst/>
          </a:prstGeom>
          <a:solidFill>
            <a:srgbClr val="03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7458FE-0EAC-844C-A233-6FB6C3FB2DC7}"/>
              </a:ext>
            </a:extLst>
          </p:cNvPr>
          <p:cNvSpPr/>
          <p:nvPr/>
        </p:nvSpPr>
        <p:spPr>
          <a:xfrm>
            <a:off x="7560146" y="2884626"/>
            <a:ext cx="644400" cy="644770"/>
          </a:xfrm>
          <a:prstGeom prst="rect">
            <a:avLst/>
          </a:prstGeom>
          <a:solidFill>
            <a:srgbClr val="013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18BBE9-2171-6240-9537-CD4FEB22F9EB}"/>
              </a:ext>
            </a:extLst>
          </p:cNvPr>
          <p:cNvSpPr/>
          <p:nvPr/>
        </p:nvSpPr>
        <p:spPr>
          <a:xfrm>
            <a:off x="8186120" y="2884626"/>
            <a:ext cx="644770" cy="644770"/>
          </a:xfrm>
          <a:prstGeom prst="rect">
            <a:avLst/>
          </a:prstGeom>
          <a:solidFill>
            <a:srgbClr val="004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7A7C7A-1E3C-3047-B1E2-3E73C30FBC00}"/>
              </a:ext>
            </a:extLst>
          </p:cNvPr>
          <p:cNvSpPr/>
          <p:nvPr/>
        </p:nvSpPr>
        <p:spPr>
          <a:xfrm>
            <a:off x="8812094" y="2884626"/>
            <a:ext cx="644770" cy="644770"/>
          </a:xfrm>
          <a:prstGeom prst="rect">
            <a:avLst/>
          </a:prstGeom>
          <a:solidFill>
            <a:srgbClr val="005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5DD7EE-DC90-AB45-852A-882CE539CB0E}"/>
              </a:ext>
            </a:extLst>
          </p:cNvPr>
          <p:cNvSpPr/>
          <p:nvPr/>
        </p:nvSpPr>
        <p:spPr>
          <a:xfrm>
            <a:off x="9431888" y="2884626"/>
            <a:ext cx="644770" cy="644770"/>
          </a:xfrm>
          <a:prstGeom prst="rect">
            <a:avLst/>
          </a:prstGeom>
          <a:solidFill>
            <a:srgbClr val="88A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BBD090-2602-1F45-AA70-1DD3E19BA243}"/>
              </a:ext>
            </a:extLst>
          </p:cNvPr>
          <p:cNvSpPr/>
          <p:nvPr/>
        </p:nvSpPr>
        <p:spPr>
          <a:xfrm>
            <a:off x="10057862" y="2884626"/>
            <a:ext cx="644770" cy="644770"/>
          </a:xfrm>
          <a:prstGeom prst="rect">
            <a:avLst/>
          </a:prstGeom>
          <a:solidFill>
            <a:srgbClr val="C2C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230CF22-F6F6-C542-A759-50A2A0056DE7}"/>
              </a:ext>
            </a:extLst>
          </p:cNvPr>
          <p:cNvSpPr/>
          <p:nvPr/>
        </p:nvSpPr>
        <p:spPr>
          <a:xfrm>
            <a:off x="10677656" y="2884626"/>
            <a:ext cx="644770" cy="644770"/>
          </a:xfrm>
          <a:prstGeom prst="rect">
            <a:avLst/>
          </a:prstGeom>
          <a:solidFill>
            <a:srgbClr val="D1D1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98FCC8-E493-874F-A980-437D4D8446B1}"/>
              </a:ext>
            </a:extLst>
          </p:cNvPr>
          <p:cNvSpPr/>
          <p:nvPr/>
        </p:nvSpPr>
        <p:spPr>
          <a:xfrm flipV="1">
            <a:off x="7743781" y="4191913"/>
            <a:ext cx="408673" cy="408674"/>
          </a:xfrm>
          <a:prstGeom prst="rect">
            <a:avLst/>
          </a:prstGeom>
          <a:solidFill>
            <a:srgbClr val="D75F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1A6D03D-6A16-6B4E-9BFA-9D7C33E816F4}"/>
              </a:ext>
            </a:extLst>
          </p:cNvPr>
          <p:cNvSpPr/>
          <p:nvPr/>
        </p:nvSpPr>
        <p:spPr>
          <a:xfrm flipV="1">
            <a:off x="8140541" y="4191913"/>
            <a:ext cx="408673" cy="408674"/>
          </a:xfrm>
          <a:prstGeom prst="rect">
            <a:avLst/>
          </a:prstGeom>
          <a:solidFill>
            <a:srgbClr val="EDB1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818F94-8C61-CC4B-9C76-64FBB92FC574}"/>
              </a:ext>
            </a:extLst>
          </p:cNvPr>
          <p:cNvSpPr/>
          <p:nvPr/>
        </p:nvSpPr>
        <p:spPr>
          <a:xfrm flipV="1">
            <a:off x="8537301" y="4191913"/>
            <a:ext cx="408673" cy="408674"/>
          </a:xfrm>
          <a:prstGeom prst="rect">
            <a:avLst/>
          </a:prstGeom>
          <a:solidFill>
            <a:srgbClr val="F9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F432D32-4B0D-D349-8956-5CFC9029F406}"/>
              </a:ext>
            </a:extLst>
          </p:cNvPr>
          <p:cNvSpPr/>
          <p:nvPr/>
        </p:nvSpPr>
        <p:spPr>
          <a:xfrm flipV="1">
            <a:off x="8934061" y="4191913"/>
            <a:ext cx="408673" cy="4086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40A1C23-6708-634D-95B1-56D20B33BFB5}"/>
              </a:ext>
            </a:extLst>
          </p:cNvPr>
          <p:cNvSpPr/>
          <p:nvPr/>
        </p:nvSpPr>
        <p:spPr>
          <a:xfrm flipV="1">
            <a:off x="9326902" y="4191913"/>
            <a:ext cx="408673" cy="408674"/>
          </a:xfrm>
          <a:prstGeom prst="rect">
            <a:avLst/>
          </a:prstGeom>
          <a:solidFill>
            <a:srgbClr val="D0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AB3494-B1D4-C749-8FA7-F0CF778E4C6E}"/>
              </a:ext>
            </a:extLst>
          </p:cNvPr>
          <p:cNvSpPr/>
          <p:nvPr/>
        </p:nvSpPr>
        <p:spPr>
          <a:xfrm flipV="1">
            <a:off x="9723664" y="4191913"/>
            <a:ext cx="408673" cy="408674"/>
          </a:xfrm>
          <a:prstGeom prst="rect">
            <a:avLst/>
          </a:prstGeom>
          <a:solidFill>
            <a:srgbClr val="8A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C88B08-12A6-754F-9D93-04D0AB3801A6}"/>
              </a:ext>
            </a:extLst>
          </p:cNvPr>
          <p:cNvSpPr/>
          <p:nvPr/>
        </p:nvSpPr>
        <p:spPr>
          <a:xfrm flipV="1">
            <a:off x="10116503" y="4191915"/>
            <a:ext cx="408673" cy="408674"/>
          </a:xfrm>
          <a:prstGeom prst="rect">
            <a:avLst/>
          </a:prstGeom>
          <a:solidFill>
            <a:srgbClr val="005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79CED9-AB29-7843-B69E-71E1384FF4BA}"/>
              </a:ext>
            </a:extLst>
          </p:cNvPr>
          <p:cNvSpPr/>
          <p:nvPr/>
        </p:nvSpPr>
        <p:spPr>
          <a:xfrm flipV="1">
            <a:off x="6950259" y="4191913"/>
            <a:ext cx="408673" cy="408674"/>
          </a:xfrm>
          <a:prstGeom prst="rect">
            <a:avLst/>
          </a:prstGeom>
          <a:solidFill>
            <a:srgbClr val="612C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A832883-B24B-C349-AD36-047A2758B040}"/>
              </a:ext>
            </a:extLst>
          </p:cNvPr>
          <p:cNvSpPr/>
          <p:nvPr/>
        </p:nvSpPr>
        <p:spPr>
          <a:xfrm flipV="1">
            <a:off x="7347019" y="4191913"/>
            <a:ext cx="408673" cy="408674"/>
          </a:xfrm>
          <a:prstGeom prst="rect">
            <a:avLst/>
          </a:prstGeom>
          <a:solidFill>
            <a:srgbClr val="78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DF6E0DE-37F4-6B44-8CC1-D89F19A75E92}"/>
              </a:ext>
            </a:extLst>
          </p:cNvPr>
          <p:cNvSpPr/>
          <p:nvPr/>
        </p:nvSpPr>
        <p:spPr>
          <a:xfrm flipV="1">
            <a:off x="10497433" y="4191913"/>
            <a:ext cx="408673" cy="408674"/>
          </a:xfrm>
          <a:prstGeom prst="rect">
            <a:avLst/>
          </a:prstGeom>
          <a:solidFill>
            <a:srgbClr val="013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711BE78-2592-FE40-A21A-B5EF690F7730}"/>
              </a:ext>
            </a:extLst>
          </p:cNvPr>
          <p:cNvSpPr/>
          <p:nvPr/>
        </p:nvSpPr>
        <p:spPr>
          <a:xfrm flipV="1">
            <a:off x="10890272" y="4191915"/>
            <a:ext cx="408673" cy="408674"/>
          </a:xfrm>
          <a:prstGeom prst="rect">
            <a:avLst/>
          </a:prstGeom>
          <a:solidFill>
            <a:srgbClr val="0223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31519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415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5F8985-ED95-1948-BA16-108D9846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Examples of figures and tables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46DF1E9-94D6-5D47-9C03-0D6A1D44A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64" y="1091381"/>
            <a:ext cx="4326189" cy="34609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2A722AB-724D-1C4C-A31F-88C501EFC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99" y="4797425"/>
            <a:ext cx="457835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9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79D95-8C6A-8349-B301-2C153991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Figures and </a:t>
            </a:r>
            <a:r>
              <a:rPr lang="fr-FR" dirty="0" err="1"/>
              <a:t>equations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750869-378C-8847-9977-C66BA618E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/>
              <a:t>rcParam</a:t>
            </a:r>
            <a:r>
              <a:rPr lang="fr-FR" dirty="0"/>
              <a:t> and </a:t>
            </a:r>
            <a:r>
              <a:rPr lang="fr-FR" dirty="0" err="1"/>
              <a:t>LaTeXiT</a:t>
            </a:r>
            <a:r>
              <a:rPr lang="fr-FR" dirty="0"/>
              <a:t> setup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7EA5886-54F1-BA41-A26C-0FC4DFCFE1E1}"/>
              </a:ext>
            </a:extLst>
          </p:cNvPr>
          <p:cNvSpPr txBox="1"/>
          <p:nvPr/>
        </p:nvSpPr>
        <p:spPr>
          <a:xfrm>
            <a:off x="683351" y="2362413"/>
            <a:ext cx="702845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rcParam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is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used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for plots in python. </a:t>
            </a:r>
          </a:p>
          <a:p>
            <a:endParaRPr lang="fr-CA" sz="1400" dirty="0">
              <a:solidFill>
                <a:srgbClr val="000000"/>
              </a:solidFill>
              <a:effectLst/>
              <a:latin typeface="CMU Sans Serif" panose="02000603000000000000" pitchFamily="2" charset="0"/>
            </a:endParaRPr>
          </a:p>
          <a:p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Plots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should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be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saved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in .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pdf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,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with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transparent background. </a:t>
            </a:r>
            <a:b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</a:br>
            <a:endParaRPr lang="fr-CA" sz="1400" dirty="0">
              <a:solidFill>
                <a:srgbClr val="000000"/>
              </a:solidFill>
              <a:effectLst/>
              <a:latin typeface="CMU Sans Serif" panose="02000603000000000000" pitchFamily="2" charset="0"/>
            </a:endParaRPr>
          </a:p>
          <a:p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For « full page » figure in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presentation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,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scaling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= 4 (2) for slides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mades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in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Keynote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(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ppt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)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with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figure size 12.6x10.08 (6.3x5.04).</a:t>
            </a:r>
          </a:p>
          <a:p>
            <a:endParaRPr lang="fr-CA" sz="1400" dirty="0">
              <a:solidFill>
                <a:srgbClr val="000000"/>
              </a:solidFill>
              <a:effectLst/>
              <a:latin typeface="CMU Sans Serif" panose="02000603000000000000" pitchFamily="2" charset="0"/>
            </a:endParaRPr>
          </a:p>
          <a:p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Royer_group_rcParams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(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figstyle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= ‘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paper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’,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scaling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= 4,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pres_style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= ‘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keynote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’)</a:t>
            </a:r>
          </a:p>
          <a:p>
            <a:endParaRPr lang="fr-CA" sz="1400" dirty="0">
              <a:solidFill>
                <a:srgbClr val="000000"/>
              </a:solidFill>
              <a:effectLst/>
              <a:latin typeface="CMU Sans Serif" panose="02000603000000000000" pitchFamily="2" charset="0"/>
            </a:endParaRPr>
          </a:p>
          <a:p>
            <a:r>
              <a:rPr lang="fr-CA" sz="1400" b="1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figstyle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: Will change the size of the figures/font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dependent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of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what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it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will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be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used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for. Values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can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be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‘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paper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’ or ‘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presentation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’.</a:t>
            </a:r>
          </a:p>
          <a:p>
            <a:r>
              <a:rPr lang="fr-CA" sz="1400" b="1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scaling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: Change the size of the figure.</a:t>
            </a:r>
          </a:p>
          <a:p>
            <a:r>
              <a:rPr lang="fr-CA" sz="1400" b="1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pres_style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: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Adjust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the size and font of a figure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dependent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on the application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used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to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create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the slides.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When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figstyle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= ‘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paper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’,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this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variable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is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not important.  </a:t>
            </a:r>
            <a:b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</a:br>
            <a:endParaRPr lang="fr-CA" sz="1400" dirty="0">
              <a:solidFill>
                <a:srgbClr val="000000"/>
              </a:solidFill>
              <a:effectLst/>
              <a:latin typeface="CMU Sans Serif" panose="02000603000000000000" pitchFamily="2" charset="0"/>
            </a:endParaRPr>
          </a:p>
          <a:p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Make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sure to use the right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colormap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for </a:t>
            </a:r>
            <a:r>
              <a:rPr lang="fr-CA" sz="14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your</a:t>
            </a:r>
            <a:r>
              <a:rPr lang="fr-CA" sz="14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data. 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3994981-4CF8-8441-891C-4531624694A8}"/>
              </a:ext>
            </a:extLst>
          </p:cNvPr>
          <p:cNvSpPr txBox="1"/>
          <p:nvPr/>
        </p:nvSpPr>
        <p:spPr>
          <a:xfrm>
            <a:off x="1065160" y="1834272"/>
            <a:ext cx="5533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Tips for </a:t>
            </a:r>
            <a:r>
              <a:rPr lang="fr-CA" sz="16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using</a:t>
            </a:r>
            <a:r>
              <a:rPr lang="fr-CA" sz="16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Royer’s</a:t>
            </a:r>
            <a:r>
              <a:rPr lang="fr-CA" sz="1600" dirty="0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 group </a:t>
            </a:r>
            <a:r>
              <a:rPr lang="fr-CA" sz="1600" dirty="0" err="1">
                <a:solidFill>
                  <a:srgbClr val="000000"/>
                </a:solidFill>
                <a:effectLst/>
                <a:latin typeface="CMU Sans Serif" panose="02000603000000000000" pitchFamily="2" charset="0"/>
              </a:rPr>
              <a:t>rcParams</a:t>
            </a:r>
            <a:endParaRPr lang="fr-CA" sz="1600" dirty="0">
              <a:solidFill>
                <a:srgbClr val="000000"/>
              </a:solidFill>
              <a:effectLst/>
              <a:latin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98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71648D-0494-9142-8137-123578D75BFB}"/>
              </a:ext>
            </a:extLst>
          </p:cNvPr>
          <p:cNvSpPr/>
          <p:nvPr/>
        </p:nvSpPr>
        <p:spPr>
          <a:xfrm>
            <a:off x="8219769" y="1790027"/>
            <a:ext cx="3603523" cy="3908321"/>
          </a:xfrm>
          <a:prstGeom prst="rect">
            <a:avLst/>
          </a:prstGeom>
          <a:solidFill>
            <a:srgbClr val="BDC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1AD344-12EE-0146-8EF1-6E0E4C712E12}"/>
              </a:ext>
            </a:extLst>
          </p:cNvPr>
          <p:cNvSpPr/>
          <p:nvPr/>
        </p:nvSpPr>
        <p:spPr>
          <a:xfrm>
            <a:off x="4264742" y="1790028"/>
            <a:ext cx="3603523" cy="3908322"/>
          </a:xfrm>
          <a:prstGeom prst="rect">
            <a:avLst/>
          </a:prstGeom>
          <a:solidFill>
            <a:srgbClr val="DD9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35338-9871-5546-B8D9-3E827612A2DE}"/>
              </a:ext>
            </a:extLst>
          </p:cNvPr>
          <p:cNvSpPr/>
          <p:nvPr/>
        </p:nvSpPr>
        <p:spPr>
          <a:xfrm>
            <a:off x="322007" y="1790028"/>
            <a:ext cx="3603523" cy="3908322"/>
          </a:xfrm>
          <a:prstGeom prst="rect">
            <a:avLst/>
          </a:prstGeom>
          <a:solidFill>
            <a:srgbClr val="89A0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5F8985-ED95-1948-BA16-108D9846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Tips for </a:t>
            </a:r>
            <a:r>
              <a:rPr lang="fr-FR" dirty="0" err="1"/>
              <a:t>presentations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5DE2798-5307-8E45-821D-EE536AD41E04}"/>
              </a:ext>
            </a:extLst>
          </p:cNvPr>
          <p:cNvSpPr txBox="1"/>
          <p:nvPr/>
        </p:nvSpPr>
        <p:spPr>
          <a:xfrm>
            <a:off x="1065161" y="1834272"/>
            <a:ext cx="2092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General </a:t>
            </a:r>
            <a:r>
              <a:rPr lang="fr-FR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presentation</a:t>
            </a:r>
            <a:r>
              <a:rPr lang="fr-FR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tips</a:t>
            </a:r>
            <a:endParaRPr lang="fr-FR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5E4076-C7A7-034C-9C3F-DC0385FEF489}"/>
              </a:ext>
            </a:extLst>
          </p:cNvPr>
          <p:cNvSpPr txBox="1"/>
          <p:nvPr/>
        </p:nvSpPr>
        <p:spPr>
          <a:xfrm>
            <a:off x="5020188" y="1972771"/>
            <a:ext cx="209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Slides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CBCE31A-CED1-9943-B6E3-FB7EEB8A83D0}"/>
              </a:ext>
            </a:extLst>
          </p:cNvPr>
          <p:cNvSpPr txBox="1"/>
          <p:nvPr/>
        </p:nvSpPr>
        <p:spPr>
          <a:xfrm>
            <a:off x="8975215" y="1972771"/>
            <a:ext cx="209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Figures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1EED2A7-52D8-2B4E-A93D-D52A666BE222}"/>
              </a:ext>
            </a:extLst>
          </p:cNvPr>
          <p:cNvSpPr txBox="1"/>
          <p:nvPr/>
        </p:nvSpPr>
        <p:spPr>
          <a:xfrm>
            <a:off x="366253" y="2698955"/>
            <a:ext cx="3544529" cy="2133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Have one key message/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idea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/concept per slide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Think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about the slides/topic transitions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Make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clear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outline</a:t>
            </a:r>
            <a:endParaRPr lang="fr-FR" sz="145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Know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your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audience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Identify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 key message for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your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whole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presentation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and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think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about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it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while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preparing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the slides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F40A297-8F85-0741-86C2-A7D116AB5E52}"/>
              </a:ext>
            </a:extLst>
          </p:cNvPr>
          <p:cNvSpPr txBox="1"/>
          <p:nvPr/>
        </p:nvSpPr>
        <p:spPr>
          <a:xfrm>
            <a:off x="4323736" y="2698955"/>
            <a:ext cx="3544529" cy="219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Keep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slides simple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Have a relevant and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meaninful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slide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title</a:t>
            </a:r>
            <a:endParaRPr lang="fr-FR" sz="145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Keep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text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short and straight to the point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Try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not to use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fully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saturated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colors</a:t>
            </a:r>
            <a:endParaRPr lang="fr-FR" sz="145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Avoid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unnecessary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animations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Use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appropriate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and consistent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fontsize</a:t>
            </a:r>
            <a:endParaRPr lang="fr-FR" sz="145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83D39E9-8CB4-CE47-AC76-DE961B1F6D46}"/>
              </a:ext>
            </a:extLst>
          </p:cNvPr>
          <p:cNvSpPr txBox="1"/>
          <p:nvPr/>
        </p:nvSpPr>
        <p:spPr>
          <a:xfrm>
            <a:off x="8278763" y="2698954"/>
            <a:ext cx="3544529" cy="235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Have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readable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axes for data plot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Explain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axes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while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presenting</a:t>
            </a:r>
            <a:endParaRPr lang="fr-FR" sz="145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Save plots in .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pdf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with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transparent background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Avoir multiple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colors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in plots (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less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than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5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different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colors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)</a:t>
            </a:r>
          </a:p>
          <a:p>
            <a:pPr marL="285750" indent="-285750">
              <a:spcAft>
                <a:spcPts val="500"/>
              </a:spcAft>
              <a:buClr>
                <a:srgbClr val="031519"/>
              </a:buClr>
              <a:buSzPct val="75000"/>
              <a:buFont typeface="Arial" panose="020B0604020202020204" pitchFamily="34" charset="0"/>
              <a:buChar char="•"/>
            </a:pP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Add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references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in a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readable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format (no url links), ex : </a:t>
            </a:r>
            <a:r>
              <a:rPr lang="fr-FR" sz="145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Authors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 et al,. PRL </a:t>
            </a:r>
            <a:r>
              <a:rPr lang="fr-FR" sz="145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01</a:t>
            </a:r>
            <a:r>
              <a:rPr lang="fr-FR" sz="145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, 23456 (2024).</a:t>
            </a:r>
          </a:p>
        </p:txBody>
      </p:sp>
    </p:spTree>
    <p:extLst>
      <p:ext uri="{BB962C8B-B14F-4D97-AF65-F5344CB8AC3E}">
        <p14:creationId xmlns:p14="http://schemas.microsoft.com/office/powerpoint/2010/main" val="18320891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dirty="0" smtClean="0">
            <a:latin typeface="CMU SANS SERIF" panose="02000603000000000000" pitchFamily="2" charset="0"/>
            <a:ea typeface="CMU SANS SERIF" panose="02000603000000000000" pitchFamily="2" charset="0"/>
            <a:cs typeface="CMU SANS SERIF" panose="02000603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8172</TotalTime>
  <Words>363</Words>
  <Application>Microsoft Macintosh PowerPoint</Application>
  <PresentationFormat>Grand écran</PresentationFormat>
  <Paragraphs>59</Paragraphs>
  <Slides>6</Slides>
  <Notes>2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CMU SANS SERIF</vt:lpstr>
      <vt:lpstr>CMU SANS SERIF</vt:lpstr>
      <vt:lpstr>Thème Office</vt:lpstr>
      <vt:lpstr>Presentation template</vt:lpstr>
      <vt:lpstr>Presentation template</vt:lpstr>
      <vt:lpstr>Color palette</vt:lpstr>
      <vt:lpstr>Examples of figures and tables</vt:lpstr>
      <vt:lpstr>Figures and equations</vt:lpstr>
      <vt:lpstr>Tips for presentations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creator>Sara Turcotte</dc:creator>
  <cp:lastModifiedBy>Sara Turcotte</cp:lastModifiedBy>
  <cp:revision>5</cp:revision>
  <dcterms:created xsi:type="dcterms:W3CDTF">2024-11-22T20:57:44Z</dcterms:created>
  <dcterms:modified xsi:type="dcterms:W3CDTF">2025-02-07T14:05:56Z</dcterms:modified>
</cp:coreProperties>
</file>