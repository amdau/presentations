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16.svg" ContentType="image/svg"/>
  <Override PartName="/ppt/media/image27.png" ContentType="image/png"/>
  <Override PartName="/ppt/media/image25.png" ContentType="image/png"/>
  <Override PartName="/ppt/media/image12.svg" ContentType="image/svg"/>
  <Override PartName="/ppt/media/image11.png" ContentType="image/png"/>
  <Override PartName="/ppt/media/image13.png" ContentType="image/png"/>
  <Override PartName="/ppt/media/image8.svg" ContentType="image/svg"/>
  <Override PartName="/ppt/media/image24.svg" ContentType="image/svg"/>
  <Override PartName="/ppt/media/image5.png" ContentType="image/png"/>
  <Override PartName="/ppt/media/image6.svg" ContentType="image/svg"/>
  <Override PartName="/ppt/media/image14.png" ContentType="image/png"/>
  <Override PartName="/ppt/media/image30.svg" ContentType="image/svg"/>
  <Override PartName="/ppt/media/image17.png" ContentType="image/png"/>
  <Override PartName="/ppt/media/image22.svg" ContentType="image/svg"/>
  <Override PartName="/ppt/media/image3.png" ContentType="image/png"/>
  <Override PartName="/ppt/media/image31.png" ContentType="image/png"/>
  <Override PartName="/ppt/media/image4.svg" ContentType="image/svg"/>
  <Override PartName="/ppt/media/image32.svg" ContentType="image/svg"/>
  <Override PartName="/ppt/media/image19.png" ContentType="image/png"/>
  <Override PartName="/ppt/media/image21.png" ContentType="image/png"/>
  <Override PartName="/ppt/media/image34.png" ContentType="image/png"/>
  <Override PartName="/ppt/media/image2.svg" ContentType="image/svg"/>
  <Override PartName="/ppt/media/image15.png" ContentType="image/png"/>
  <Override PartName="/ppt/media/image26.svg" ContentType="image/svg"/>
  <Override PartName="/ppt/media/image7.png" ContentType="image/png"/>
  <Override PartName="/ppt/media/image28.svg" ContentType="image/svg"/>
  <Override PartName="/ppt/media/image9.png" ContentType="image/png"/>
  <Override PartName="/ppt/media/image18.svg" ContentType="image/svg"/>
  <Override PartName="/ppt/media/image20.svg" ContentType="image/svg"/>
  <Override PartName="/ppt/media/image33.png" ContentType="image/png"/>
  <Override PartName="/ppt/media/image1.png" ContentType="image/png"/>
  <Override PartName="/ppt/media/image10.svg" ContentType="image/svg"/>
  <Override PartName="/ppt/media/image23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</p:sldMasterIdLst>
  <p:notesMasterIdLst>
    <p:notesMasterId r:id="rId17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1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1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A95B6CB-58C4-4D6C-A18C-E4CEEEE9C18A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768BB2-E535-41D5-A492-9DA3F5DC05E9}" type="slidenum">
              <a:rPr b="0" lang="fr-FR" sz="12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2400FC-3E57-4B48-806E-4188DF7B8750}" type="slidenum">
              <a:rPr b="0" lang="fr-FR" sz="12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828438-FC17-4C88-A80A-C1405C77EE53}" type="slidenum">
              <a:rPr b="0" lang="fr-FR" sz="12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1FE103-127D-4F1B-A0B4-AB24E5605348}" type="slidenum">
              <a:rPr b="0" lang="fr-FR" sz="12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A9993D-05C0-4D7F-9462-A63A22F6752A}" type="slidenum">
              <a:rPr b="0" lang="fr-FR" sz="12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6DAB3E-F893-4F86-AFFD-E4960D2C7C05}" type="slidenum">
              <a:rPr b="0" lang="fr-FR" sz="12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A3A72F-207D-472D-B5BB-03964653E877}" type="slidenum">
              <a:rPr b="0" lang="fr-FR" sz="12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F847C8-1C82-4528-8771-E31003588538}" type="slidenum">
              <a:rPr b="0" lang="fr-FR" sz="12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142419-3CB7-4B25-B3FE-59635D0D7B93}" type="slidenum">
              <a:rPr b="0" lang="fr-FR" sz="12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DC65CC-27BE-4E56-A384-4FA354836314}" type="slidenum">
              <a:rPr b="0" lang="fr-FR" sz="12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615FB4-A2D2-4B83-88AA-5221B07F0616}" type="slidenum">
              <a:rPr b="0" lang="fr-FR" sz="12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9DB0D7-FDF2-4292-9003-450B9728ABE8}" type="slidenum">
              <a:rPr b="0" lang="fr-FR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9B5D7C-25A2-4252-A955-8DB1DD51747A}" type="slidenum">
              <a:rPr b="0" lang="fr-FR" sz="12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 2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E898144-3387-47CD-867B-1EDA92E65753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 2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2083A6-0C78-410A-85E0-1C058D401074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 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4831A5-95C4-4301-BB33-490513B514BE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pty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51CBA72-BA2A-4962-B188-8FF96064CBC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pty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83D644-B7BD-42DD-8B81-B047DE6F8F0F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mpty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DEBADF-114B-46DF-91EB-6E8FF94F9FE3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2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2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1AE527F4-E51B-411F-8D57-1B71870EA54C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1E160A5-5065-43CB-A389-904A11CED431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F2DF1B2-3E5A-4A6A-BD06-B89FDCF8E42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11531520" y="6419880"/>
            <a:ext cx="684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6947941-D081-4392-8425-CB8401D23876}" type="slidenum">
              <a: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rPr>
              <a:t>1</a:t>
            </a:fld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sldNum" idx="2"/>
          </p:nvPr>
        </p:nvSpPr>
        <p:spPr>
          <a:xfrm>
            <a:off x="11531520" y="6419880"/>
            <a:ext cx="684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7657523-9952-43B0-98A2-18288037D341}" type="slidenum">
              <a: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rPr>
              <a:t>1</a:t>
            </a:fld>
            <a:endParaRPr b="0" lang="en-US" sz="16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>
          <a:xfrm>
            <a:off x="11531520" y="6419880"/>
            <a:ext cx="684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D599CC7-63AC-4EC1-9472-7C95149F7D54}" type="slidenum">
              <a: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rPr>
              <a:t>1</a:t>
            </a:fld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Num" idx="4"/>
          </p:nvPr>
        </p:nvSpPr>
        <p:spPr>
          <a:xfrm>
            <a:off x="11531520" y="6419880"/>
            <a:ext cx="684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10951DA-D3A5-403B-A286-B98C11CA6804}" type="slidenum">
              <a: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rPr>
              <a:t>1</a:t>
            </a:fld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5"/>
          </p:nvPr>
        </p:nvSpPr>
        <p:spPr>
          <a:xfrm>
            <a:off x="11531520" y="6419880"/>
            <a:ext cx="684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BC57F7-FD56-4DB8-A027-FBDAD49AD5B3}" type="slidenum">
              <a: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rPr>
              <a:t>1</a:t>
            </a:fld>
            <a:endParaRPr b="0" lang="en-US" sz="16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6"/>
          </p:nvPr>
        </p:nvSpPr>
        <p:spPr>
          <a:xfrm>
            <a:off x="11531520" y="6419880"/>
            <a:ext cx="684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E55A414-4A91-4BC1-A509-B5919AEC0676}" type="slidenum">
              <a: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rPr>
              <a:t>1</a:t>
            </a:fld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a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7"/>
          </p:nvPr>
        </p:nvSpPr>
        <p:spPr>
          <a:xfrm>
            <a:off x="11531520" y="6419880"/>
            <a:ext cx="684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C664FB9-4015-48EB-911A-624B1EDF32C2}" type="slidenum">
              <a: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rPr>
              <a:t>1</a:t>
            </a:fld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Num" idx="8"/>
          </p:nvPr>
        </p:nvSpPr>
        <p:spPr>
          <a:xfrm>
            <a:off x="11531520" y="6419880"/>
            <a:ext cx="684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A7D4AA3-A26D-4CA5-8CAE-BCC251544442}" type="slidenum">
              <a: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rPr>
              <a:t>1</a:t>
            </a:fld>
            <a:endParaRPr b="0" lang="en-US" sz="16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Num" idx="9"/>
          </p:nvPr>
        </p:nvSpPr>
        <p:spPr>
          <a:xfrm>
            <a:off x="11531520" y="6419880"/>
            <a:ext cx="684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A5E66C0-365B-4F4C-A1FF-7C5A39547264}" type="slidenum">
              <a:rPr b="0" lang="fr-FR" sz="1600" strike="noStrike" u="none">
                <a:solidFill>
                  <a:schemeClr val="dk1"/>
                </a:solidFill>
                <a:uFillTx/>
                <a:latin typeface="CMU SANS SERIF"/>
                <a:ea typeface="CMU SANS SERIF"/>
              </a:rPr>
              <a:t>1</a:t>
            </a:fld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Relationship Id="rId9" Type="http://schemas.openxmlformats.org/officeDocument/2006/relationships/slideLayout" Target="../slideLayouts/slideLayout13.xml"/><Relationship Id="rId10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sv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sv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svg"/><Relationship Id="rId3" Type="http://schemas.openxmlformats.org/officeDocument/2006/relationships/image" Target="../media/image27.png"/><Relationship Id="rId4" Type="http://schemas.openxmlformats.org/officeDocument/2006/relationships/image" Target="../media/image28.sv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sv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46120" y="2638440"/>
            <a:ext cx="1088352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ANS SERIF"/>
                <a:ea typeface="CMU SANS SERIF"/>
              </a:rPr>
              <a:t>Dealing numerically with large numbers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46120" y="4040280"/>
            <a:ext cx="10513800" cy="41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600" strike="noStrike" u="none">
                <a:solidFill>
                  <a:srgbClr val="031519"/>
                </a:solidFill>
                <a:uFillTx/>
                <a:latin typeface="CMU SANS SERIF"/>
                <a:ea typeface="CMU SANS SERIF"/>
              </a:rPr>
              <a:t>Jean-Baptiste Bertrand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46120" y="4508640"/>
            <a:ext cx="2881080" cy="41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800" strike="noStrike" u="none">
                <a:solidFill>
                  <a:srgbClr val="031519"/>
                </a:solidFill>
                <a:uFillTx/>
                <a:latin typeface="CMU SANS SERIF"/>
                <a:ea typeface="CMU SANS SERIF"/>
              </a:rPr>
              <a:t>August 18th, 2025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3"/>
          <p:cNvSpPr/>
          <p:nvPr/>
        </p:nvSpPr>
        <p:spPr>
          <a:xfrm>
            <a:off x="0" y="0"/>
            <a:ext cx="1219176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Exemple problem: representing </a:t>
            </a:r>
            <a:r>
              <a:rPr b="1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|</a:t>
            </a: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GKP⟩ numerically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3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304080" y="2092320"/>
            <a:ext cx="5770800" cy="270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4"/>
          <p:cNvSpPr/>
          <p:nvPr/>
        </p:nvSpPr>
        <p:spPr>
          <a:xfrm>
            <a:off x="0" y="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Finite energy states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922840" y="2440080"/>
            <a:ext cx="6345720" cy="197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"/>
          <p:cNvSpPr/>
          <p:nvPr/>
        </p:nvSpPr>
        <p:spPr>
          <a:xfrm>
            <a:off x="3025800" y="3392280"/>
            <a:ext cx="6032160" cy="1024920"/>
          </a:xfrm>
          <a:prstGeom prst="rect">
            <a:avLst/>
          </a:prstGeom>
          <a:solidFill>
            <a:srgbClr val="dfda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312720" y="5194080"/>
            <a:ext cx="5523840" cy="79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"/>
          <p:cNvSpPr/>
          <p:nvPr/>
        </p:nvSpPr>
        <p:spPr>
          <a:xfrm>
            <a:off x="3025800" y="5119560"/>
            <a:ext cx="6032160" cy="1024920"/>
          </a:xfrm>
          <a:prstGeom prst="rect">
            <a:avLst/>
          </a:prstGeom>
          <a:solidFill>
            <a:srgbClr val="dfda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5"/>
          <p:cNvSpPr/>
          <p:nvPr/>
        </p:nvSpPr>
        <p:spPr>
          <a:xfrm>
            <a:off x="546120" y="263844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240360" y="2891160"/>
            <a:ext cx="5711040" cy="107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23"/>
          <p:cNvSpPr/>
          <p:nvPr/>
        </p:nvSpPr>
        <p:spPr>
          <a:xfrm>
            <a:off x="0" y="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Finite</a:t>
            </a:r>
            <a:r>
              <a:rPr b="0" lang="fr-FR" sz="4100" strike="noStrike" u="none">
                <a:solidFill>
                  <a:srgbClr val="031519"/>
                </a:solidFill>
                <a:uFillTx/>
                <a:latin typeface="CMU SANS SERIF"/>
                <a:ea typeface="CMU SANS SERIF"/>
              </a:rPr>
              <a:t> </a:t>
            </a: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energy</a:t>
            </a:r>
            <a:r>
              <a:rPr b="0" lang="fr-FR" sz="4100" strike="noStrike" u="none">
                <a:solidFill>
                  <a:srgbClr val="031519"/>
                </a:solidFill>
                <a:uFillTx/>
                <a:latin typeface="CMU SANS SERIF"/>
                <a:ea typeface="CMU SANS SERIF"/>
              </a:rPr>
              <a:t> </a:t>
            </a: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states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 flipV="1">
            <a:off x="6918840" y="4052520"/>
            <a:ext cx="2069280" cy="8640"/>
          </a:xfrm>
          <a:prstGeom prst="line">
            <a:avLst/>
          </a:prstGeom>
          <a:ln w="29160">
            <a:solidFill>
              <a:srgbClr val="d75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0760" bIns="-507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d75f5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" dur="indefinite" restart="never" nodeType="tmRoot">
          <p:childTnLst>
            <p:seq>
              <p:cTn id="1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7"/>
          <p:cNvSpPr/>
          <p:nvPr/>
        </p:nvSpPr>
        <p:spPr>
          <a:xfrm>
            <a:off x="546120" y="249984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623840" y="2499840"/>
            <a:ext cx="2358360" cy="91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1"/>
          <p:cNvSpPr/>
          <p:nvPr/>
        </p:nvSpPr>
        <p:spPr>
          <a:xfrm>
            <a:off x="0" y="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Why can this be problematic?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4"/>
          <p:cNvSpPr/>
          <p:nvPr/>
        </p:nvSpPr>
        <p:spPr>
          <a:xfrm>
            <a:off x="445680" y="4597200"/>
            <a:ext cx="1130004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Everything diverges </a:t>
            </a:r>
            <a:r>
              <a:rPr b="1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very fast</a:t>
            </a: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 in </a:t>
            </a:r>
            <a:r>
              <a:rPr b="0" i="1" lang="fr-FR" sz="2800" strike="noStrike" u="none">
                <a:solidFill>
                  <a:srgbClr val="d75f50"/>
                </a:solidFill>
                <a:uFillTx/>
                <a:latin typeface="CMU Serif"/>
                <a:ea typeface="CMU SANS SERIF"/>
              </a:rPr>
              <a:t>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400" strike="noStrike" u="none">
                <a:solidFill>
                  <a:srgbClr val="031519"/>
                </a:solidFill>
                <a:uFillTx/>
                <a:latin typeface="Fira Code Light"/>
                <a:ea typeface="CMU SANS SERIF"/>
              </a:rPr>
              <a:t>Float</a:t>
            </a: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s or </a:t>
            </a:r>
            <a:r>
              <a:rPr b="0" lang="fr-FR" sz="2400" strike="noStrike" u="none">
                <a:solidFill>
                  <a:srgbClr val="031519"/>
                </a:solidFill>
                <a:uFillTx/>
                <a:latin typeface="Fira Code Light"/>
                <a:ea typeface="CMU SANS SERIF"/>
              </a:rPr>
              <a:t>Int</a:t>
            </a: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s might be </a:t>
            </a:r>
            <a:r>
              <a:rPr b="1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unable</a:t>
            </a: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 </a:t>
            </a:r>
            <a:r>
              <a:rPr b="1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to represent</a:t>
            </a: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 such large numbers 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6"/>
          <p:cNvSpPr/>
          <p:nvPr/>
        </p:nvSpPr>
        <p:spPr>
          <a:xfrm>
            <a:off x="546120" y="263844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769640" y="1300680"/>
            <a:ext cx="0" cy="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324040" y="4570560"/>
            <a:ext cx="0" cy="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" descr=""/>
          <p:cNvPicPr/>
          <p:nvPr/>
        </p:nvPicPr>
        <p:blipFill>
          <a:blip r:embed="rId5"/>
          <a:stretch/>
        </p:blipFill>
        <p:spPr>
          <a:xfrm>
            <a:off x="0" y="99000"/>
            <a:ext cx="12191400" cy="675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25"/>
          <p:cNvSpPr/>
          <p:nvPr/>
        </p:nvSpPr>
        <p:spPr>
          <a:xfrm>
            <a:off x="0" y="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Python example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8"/>
          <p:cNvSpPr/>
          <p:nvPr/>
        </p:nvSpPr>
        <p:spPr>
          <a:xfrm>
            <a:off x="546120" y="263844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769640" y="1300680"/>
            <a:ext cx="0" cy="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9"/>
          <p:cNvSpPr/>
          <p:nvPr/>
        </p:nvSpPr>
        <p:spPr>
          <a:xfrm>
            <a:off x="0" y="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Solutions: </a:t>
            </a:r>
            <a:r>
              <a:rPr b="0" lang="fr-FR" sz="3600" strike="noStrike" u="none">
                <a:solidFill>
                  <a:srgbClr val="031519"/>
                </a:solidFill>
                <a:uFillTx/>
                <a:latin typeface="Fira Code Light"/>
                <a:ea typeface="CMU SANS SERIF"/>
              </a:rPr>
              <a:t>big()</a:t>
            </a: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(or </a:t>
            </a:r>
            <a:r>
              <a:rPr b="0" lang="fr-FR" sz="3600" strike="noStrike" u="none">
                <a:solidFill>
                  <a:srgbClr val="031519"/>
                </a:solidFill>
                <a:uFillTx/>
                <a:latin typeface="Fira Code Light"/>
                <a:ea typeface="CMU SANS SERIF"/>
              </a:rPr>
              <a:t>decimal()</a:t>
            </a: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 in python)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3"/>
          <a:stretch/>
        </p:blipFill>
        <p:spPr>
          <a:xfrm>
            <a:off x="159480" y="597960"/>
            <a:ext cx="12191400" cy="535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28"/>
          <p:cNvSpPr/>
          <p:nvPr/>
        </p:nvSpPr>
        <p:spPr>
          <a:xfrm>
            <a:off x="675360" y="547128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Caveats: 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	</a:t>
            </a: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- Potentially much slower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	</a:t>
            </a: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- Might not work with all function </a:t>
            </a: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	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2"/>
          <p:cNvSpPr/>
          <p:nvPr/>
        </p:nvSpPr>
        <p:spPr>
          <a:xfrm>
            <a:off x="546120" y="263844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479760" y="2834280"/>
            <a:ext cx="5231880" cy="91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348360" y="2565000"/>
            <a:ext cx="0" cy="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229000" y="5834880"/>
            <a:ext cx="0" cy="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3245400" y="4605840"/>
            <a:ext cx="5700600" cy="104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7"/>
          <p:cNvSpPr/>
          <p:nvPr/>
        </p:nvSpPr>
        <p:spPr>
          <a:xfrm>
            <a:off x="0" y="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Solutions: take the log! 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65"/>
          <p:cNvSpPr/>
          <p:nvPr/>
        </p:nvSpPr>
        <p:spPr>
          <a:xfrm>
            <a:off x="2987280" y="1176480"/>
            <a:ext cx="62172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i="1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a</a:t>
            </a: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 is too big? Compute </a:t>
            </a:r>
            <a:r>
              <a:rPr b="0" lang="fr-FR" sz="2800" strike="noStrike" u="none">
                <a:solidFill>
                  <a:srgbClr val="031519"/>
                </a:solidFill>
                <a:uFillTx/>
                <a:latin typeface="CMU Serif Extra"/>
                <a:ea typeface="CMU SANS SERIF"/>
              </a:rPr>
              <a:t>log</a:t>
            </a: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(</a:t>
            </a:r>
            <a:r>
              <a:rPr b="0" i="1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a</a:t>
            </a:r>
            <a:r>
              <a:rPr b="0" lang="fr-FR" sz="28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) instead !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32"/>
          <p:cNvSpPr/>
          <p:nvPr/>
        </p:nvSpPr>
        <p:spPr>
          <a:xfrm>
            <a:off x="546120" y="263844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33"/>
          <p:cNvSpPr/>
          <p:nvPr/>
        </p:nvSpPr>
        <p:spPr>
          <a:xfrm>
            <a:off x="0" y="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Applying this to the GKP coefficients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471680" y="1523880"/>
            <a:ext cx="9508320" cy="441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"/>
          <p:cNvSpPr/>
          <p:nvPr/>
        </p:nvSpPr>
        <p:spPr>
          <a:xfrm flipV="1">
            <a:off x="1900080" y="2637000"/>
            <a:ext cx="7356240" cy="1411920"/>
          </a:xfrm>
          <a:prstGeom prst="rect">
            <a:avLst/>
          </a:prstGeom>
          <a:solidFill>
            <a:srgbClr val="dfda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 flipV="1">
            <a:off x="1965960" y="3961440"/>
            <a:ext cx="9217800" cy="2358360"/>
          </a:xfrm>
          <a:prstGeom prst="rect">
            <a:avLst/>
          </a:prstGeom>
          <a:solidFill>
            <a:srgbClr val="dfda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416640" y="4710600"/>
            <a:ext cx="2363760" cy="360"/>
          </a:xfrm>
          <a:prstGeom prst="line">
            <a:avLst/>
          </a:prstGeom>
          <a:ln w="29160">
            <a:solidFill>
              <a:srgbClr val="d75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d75f50"/>
              </a:solidFill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7525080" y="5827680"/>
            <a:ext cx="1221120" cy="360"/>
          </a:xfrm>
          <a:prstGeom prst="line">
            <a:avLst/>
          </a:prstGeom>
          <a:ln w="29160">
            <a:solidFill>
              <a:srgbClr val="d75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d75f5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40"/>
          <p:cNvSpPr/>
          <p:nvPr/>
        </p:nvSpPr>
        <p:spPr>
          <a:xfrm>
            <a:off x="546120" y="263844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41"/>
          <p:cNvSpPr/>
          <p:nvPr/>
        </p:nvSpPr>
        <p:spPr>
          <a:xfrm>
            <a:off x="0" y="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Applying this to the GKP coefficients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3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489400" y="2485800"/>
            <a:ext cx="7212960" cy="38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17800" y="4182840"/>
            <a:ext cx="995616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"/>
          <p:cNvSpPr/>
          <p:nvPr/>
        </p:nvSpPr>
        <p:spPr>
          <a:xfrm flipV="1">
            <a:off x="4136760" y="2087640"/>
            <a:ext cx="2386800" cy="1262520"/>
          </a:xfrm>
          <a:prstGeom prst="rect">
            <a:avLst/>
          </a:prstGeom>
          <a:solidFill>
            <a:srgbClr val="dfda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 flipV="1">
            <a:off x="6523560" y="2087280"/>
            <a:ext cx="3477600" cy="1262520"/>
          </a:xfrm>
          <a:prstGeom prst="rect">
            <a:avLst/>
          </a:prstGeom>
          <a:solidFill>
            <a:srgbClr val="dfda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 flipV="1">
            <a:off x="2946240" y="4182480"/>
            <a:ext cx="3832200" cy="1262520"/>
          </a:xfrm>
          <a:prstGeom prst="rect">
            <a:avLst/>
          </a:prstGeom>
          <a:solidFill>
            <a:srgbClr val="dfda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 flipV="1">
            <a:off x="6878160" y="4062240"/>
            <a:ext cx="4430160" cy="1262520"/>
          </a:xfrm>
          <a:prstGeom prst="rect">
            <a:avLst/>
          </a:prstGeom>
          <a:solidFill>
            <a:srgbClr val="dfda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" dur="indefinite" restart="never" nodeType="tmRoot">
          <p:childTnLst>
            <p:seq>
              <p:cTn id="44" dur="indefinite" nodeType="mainSeq">
                <p:childTnLst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45"/>
          <p:cNvSpPr/>
          <p:nvPr/>
        </p:nvSpPr>
        <p:spPr>
          <a:xfrm>
            <a:off x="546120" y="263844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46"/>
          <p:cNvSpPr/>
          <p:nvPr/>
        </p:nvSpPr>
        <p:spPr>
          <a:xfrm>
            <a:off x="0" y="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⚠️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79840" y="511920"/>
            <a:ext cx="6552360" cy="43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997720" y="1676160"/>
            <a:ext cx="6319080" cy="67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2539800" y="2684520"/>
            <a:ext cx="7477920" cy="333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"/>
          <p:cNvSpPr/>
          <p:nvPr/>
        </p:nvSpPr>
        <p:spPr>
          <a:xfrm flipV="1">
            <a:off x="2606400" y="4691880"/>
            <a:ext cx="8433720" cy="1627560"/>
          </a:xfrm>
          <a:prstGeom prst="rect">
            <a:avLst/>
          </a:prstGeom>
          <a:solidFill>
            <a:srgbClr val="dfda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 flipV="1">
            <a:off x="6658920" y="2449440"/>
            <a:ext cx="3411360" cy="787680"/>
          </a:xfrm>
          <a:prstGeom prst="rect">
            <a:avLst/>
          </a:prstGeom>
          <a:solidFill>
            <a:srgbClr val="dfda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50"/>
          <p:cNvSpPr/>
          <p:nvPr/>
        </p:nvSpPr>
        <p:spPr>
          <a:xfrm>
            <a:off x="546120" y="263844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51"/>
          <p:cNvSpPr/>
          <p:nvPr/>
        </p:nvSpPr>
        <p:spPr>
          <a:xfrm>
            <a:off x="0" y="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Applying this to the GKP coefficients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700640" y="1726920"/>
            <a:ext cx="8911440" cy="40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"/>
          <p:cNvSpPr/>
          <p:nvPr/>
        </p:nvSpPr>
        <p:spPr>
          <a:xfrm flipV="1">
            <a:off x="2021400" y="3349440"/>
            <a:ext cx="7356240" cy="1262520"/>
          </a:xfrm>
          <a:prstGeom prst="rect">
            <a:avLst/>
          </a:prstGeom>
          <a:solidFill>
            <a:srgbClr val="dfda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 flipV="1">
            <a:off x="2194560" y="4536000"/>
            <a:ext cx="8417520" cy="1339200"/>
          </a:xfrm>
          <a:prstGeom prst="rect">
            <a:avLst/>
          </a:prstGeom>
          <a:solidFill>
            <a:srgbClr val="dfda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7" dur="indefinite" restart="never" nodeType="tmRoot">
          <p:childTnLst>
            <p:seq>
              <p:cTn id="88" dur="indefinite" nodeType="mainSeq">
                <p:childTnLst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26"/>
          <p:cNvSpPr/>
          <p:nvPr/>
        </p:nvSpPr>
        <p:spPr>
          <a:xfrm>
            <a:off x="546120" y="263844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PlaceHolder 27"/>
          <p:cNvSpPr/>
          <p:nvPr/>
        </p:nvSpPr>
        <p:spPr>
          <a:xfrm>
            <a:off x="0" y="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Applying this to the GKP coefficients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360" y="560880"/>
            <a:ext cx="12191400" cy="606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55"/>
          <p:cNvSpPr/>
          <p:nvPr/>
        </p:nvSpPr>
        <p:spPr>
          <a:xfrm>
            <a:off x="546120" y="263844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56"/>
          <p:cNvSpPr/>
          <p:nvPr/>
        </p:nvSpPr>
        <p:spPr>
          <a:xfrm>
            <a:off x="0" y="0"/>
            <a:ext cx="1051380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4100" strike="noStrike" u="none">
                <a:solidFill>
                  <a:srgbClr val="031519"/>
                </a:solidFill>
                <a:uFillTx/>
                <a:latin typeface="CMU Serif"/>
                <a:ea typeface="CMU SANS SERIF"/>
              </a:rPr>
              <a:t>Applying this to the GKP coefficients</a:t>
            </a:r>
            <a:endParaRPr b="0" lang="en-US" sz="4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0" y="552600"/>
            <a:ext cx="12190680" cy="630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Thème Office">
  <a:themeElements>
    <a:clrScheme name="BR_group">
      <a:dk1>
        <a:srgbClr val="031518"/>
      </a:dk1>
      <a:lt1>
        <a:srgbClr val="dedad0"/>
      </a:lt1>
      <a:dk2>
        <a:srgbClr val="005358"/>
      </a:dk2>
      <a:lt2>
        <a:srgbClr val="d65e57"/>
      </a:lt2>
      <a:accent1>
        <a:srgbClr val="98af98"/>
      </a:accent1>
      <a:accent2>
        <a:srgbClr val="b3c2b2"/>
      </a:accent2>
      <a:accent3>
        <a:srgbClr val="846c92"/>
      </a:accent3>
      <a:accent4>
        <a:srgbClr val="b5a2b3"/>
      </a:accent4>
      <a:accent5>
        <a:srgbClr val="e19349"/>
      </a:accent5>
      <a:accent6>
        <a:srgbClr val="eab483"/>
      </a:accent6>
      <a:hlink>
        <a:srgbClr val="919191"/>
      </a:hlink>
      <a:folHlink>
        <a:srgbClr val="954f72"/>
      </a:folHlink>
    </a:clrScheme>
    <a:fontScheme name="Thèm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8235</TotalTime>
  <Application>LibreOffice/24.8.7.2$Linux_X86_64 LibreOffice_project/480$Build-2</Application>
  <AppVersion>15.0000</AppVersion>
  <Words>363</Words>
  <Paragraphs>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2024-11-22T20:57:44Z</dcterms:created>
  <dc:creator>Sara Turcotte</dc:creator>
  <dc:description/>
  <dc:language>en-US</dc:language>
  <cp:lastModifiedBy/>
  <dcterms:modified xsi:type="dcterms:W3CDTF">2025-08-21T13:28:53Z</dcterms:modified>
  <cp:revision>14</cp:revision>
  <dc:subject/>
  <dc:title>Presentation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2</vt:i4>
  </property>
  <property fmtid="{D5CDD505-2E9C-101B-9397-08002B2CF9AE}" pid="4" name="PresentationFormat">
    <vt:lpwstr>Grand écran</vt:lpwstr>
  </property>
  <property fmtid="{D5CDD505-2E9C-101B-9397-08002B2CF9AE}" pid="5" name="Slides">
    <vt:i4>6</vt:i4>
  </property>
</Properties>
</file>