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svg" ContentType="image/svg"/>
  <Override PartName="/ppt/media/image9.png" ContentType="image/png"/>
  <Override PartName="/ppt/media/image27.png" ContentType="image/png"/>
  <Override PartName="/ppt/media/image25.png" ContentType="image/png"/>
  <Override PartName="/ppt/media/image12.svg" ContentType="image/svg"/>
  <Override PartName="/ppt/media/image49.svg" ContentType="image/svg"/>
  <Override PartName="/ppt/media/image24.png" ContentType="image/png"/>
  <Override PartName="/ppt/media/image22.png" ContentType="image/png"/>
  <Override PartName="/ppt/media/image15.svg" ContentType="image/svg"/>
  <Override PartName="/ppt/media/image21.svg" ContentType="image/svg"/>
  <Override PartName="/ppt/media/image2.png" ContentType="image/png"/>
  <Override PartName="/ppt/media/image34.png" ContentType="image/png"/>
  <Override PartName="/ppt/media/image19.svg" ContentType="image/svg"/>
  <Override PartName="/ppt/media/image1.png" ContentType="image/png"/>
  <Override PartName="/ppt/media/image57.svg" ContentType="image/svg"/>
  <Override PartName="/ppt/media/image23.svg" ContentType="image/svg"/>
  <Override PartName="/ppt/media/image36.png" ContentType="image/png"/>
  <Override PartName="/ppt/media/image3.png" ContentType="image/png"/>
  <Override PartName="/ppt/media/image4.svg" ContentType="image/svg"/>
  <Override PartName="/ppt/media/image16.png" ContentType="image/png"/>
  <Override PartName="/ppt/media/image8.svg" ContentType="image/svg"/>
  <Override PartName="/ppt/media/image7.png" ContentType="image/png"/>
  <Override PartName="/ppt/media/image26.svg" ContentType="image/svg"/>
  <Override PartName="/ppt/media/image11.png" ContentType="image/png"/>
  <Override PartName="/ppt/media/image35.svg" ContentType="image/svg"/>
  <Override PartName="/ppt/media/image48.png" ContentType="image/png"/>
  <Override PartName="/ppt/media/image14.png" ContentType="image/png"/>
  <Override PartName="/ppt/media/image5.png" ContentType="image/png"/>
  <Override PartName="/ppt/media/image32.png" ContentType="image/png"/>
  <Override PartName="/ppt/media/image45.svg" ContentType="image/svg"/>
  <Override PartName="/ppt/media/image58.png" ContentType="image/png"/>
  <Override PartName="/ppt/media/image50.png" ContentType="image/png"/>
  <Override PartName="/ppt/media/image30.svg" ContentType="image/svg"/>
  <Override PartName="/ppt/media/image42.png" ContentType="image/png"/>
  <Override PartName="/ppt/media/image53.svg" ContentType="image/svg"/>
  <Override PartName="/ppt/media/image51.svg" ContentType="image/svg"/>
  <Override PartName="/ppt/media/image40.png" ContentType="image/png"/>
  <Override PartName="/ppt/media/image52.png" ContentType="image/png"/>
  <Override PartName="/ppt/media/image38.png" ContentType="image/png"/>
  <Override PartName="/ppt/media/image6.png" ContentType="image/png"/>
  <Override PartName="/ppt/media/image54.png" ContentType="image/png"/>
  <Override PartName="/ppt/media/image41.svg" ContentType="image/svg"/>
  <Override PartName="/ppt/media/image39.svg" ContentType="image/svg"/>
  <Override PartName="/ppt/media/image43.svg" ContentType="image/svg"/>
  <Override PartName="/ppt/media/image56.png" ContentType="image/png"/>
  <Override PartName="/ppt/media/image44.png" ContentType="image/png"/>
  <Override PartName="/ppt/media/image46.png" ContentType="image/png"/>
  <Override PartName="/ppt/media/image33.svg" ContentType="image/svg"/>
  <Override PartName="/ppt/media/image55.svg" ContentType="image/svg"/>
  <Override PartName="/ppt/media/image31.png" ContentType="image/png"/>
  <Override PartName="/ppt/media/image13.png" ContentType="image/png"/>
  <Override PartName="/ppt/media/image37.svg" ContentType="image/svg"/>
  <Override PartName="/ppt/media/image10.svg" ContentType="image/svg"/>
  <Override PartName="/ppt/media/image47.svg" ContentType="image/svg"/>
  <Override PartName="/ppt/media/image18.png" ContentType="image/png"/>
  <Override PartName="/ppt/media/image20.png" ContentType="image/png"/>
  <Override PartName="/ppt/media/image17.svg" ContentType="image/sv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3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27B710A-244F-4D8B-99A4-0AB55E39C12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697440" cy="37641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036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ans Serif Demi Condensed"/>
              </a:rPr>
              <a:t>Simulating quantum system is hard :(, I want to simulate Bosonic qubits fast: I have many way do that!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Using Tensor networks is common to simulate quatum system but more so for simulating TLS qubits: I am using it to simulate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697440" cy="37641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036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Tensor networks are good at quantum because you can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Using Tensor networks is common to simulate quatum system but more so for simulating TLS qubits: I am using it to simulate </a:t>
            </a:r>
            <a:r>
              <a:rPr b="0" i="1" lang="en-US" sz="2000" strike="noStrike" u="none">
                <a:solidFill>
                  <a:srgbClr val="000000"/>
                </a:solidFill>
                <a:uFillTx/>
                <a:latin typeface="Arial"/>
              </a:rPr>
              <a:t>bosonic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qubits :)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697440" cy="37641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036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Tensor networks are good at quantum because you can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Using Tensor networks is common to simulate quatum system but more so for simulating TLS qubits: I am using it to simulate </a:t>
            </a:r>
            <a:r>
              <a:rPr b="0" i="1" lang="en-US" sz="2000" strike="noStrike" u="none">
                <a:solidFill>
                  <a:srgbClr val="000000"/>
                </a:solidFill>
                <a:uFillTx/>
                <a:latin typeface="Arial"/>
              </a:rPr>
              <a:t>bosonic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qubits :)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697440" cy="37641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036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Tensor networks are good at quantum because you can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Using Tensor networks is common to simulate quatum system but more so for simulating TLS qubits: I am using it to simulate </a:t>
            </a:r>
            <a:r>
              <a:rPr b="0" i="1" lang="en-US" sz="2000" strike="noStrike" u="none">
                <a:solidFill>
                  <a:srgbClr val="000000"/>
                </a:solidFill>
                <a:uFillTx/>
                <a:latin typeface="Arial"/>
              </a:rPr>
              <a:t>bosonic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qubits :)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697440" cy="37641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036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In order to minimise even further the number of elements I have to keep track of, I use MC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04760" y="1442520"/>
            <a:ext cx="6088680" cy="34218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40440" y="4871160"/>
            <a:ext cx="6210720" cy="451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</a:rPr>
              <a:t>Look! A more complex system! There is a cavity </a:t>
            </a:r>
            <a:r>
              <a:rPr b="0" i="1" lang="en-US" sz="2600" strike="noStrike" u="none">
                <a:solidFill>
                  <a:srgbClr val="000000"/>
                </a:solidFill>
                <a:uFillTx/>
                <a:latin typeface="CMU Serif"/>
              </a:rPr>
              <a:t>and</a:t>
            </a: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</a:rPr>
              <a:t> a qubit! :)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2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7.png"/><Relationship Id="rId12" Type="http://schemas.openxmlformats.org/officeDocument/2006/relationships/image" Target="../media/image8.svg"/><Relationship Id="rId13" Type="http://schemas.openxmlformats.org/officeDocument/2006/relationships/image" Target="../media/image7.png"/><Relationship Id="rId14" Type="http://schemas.openxmlformats.org/officeDocument/2006/relationships/image" Target="../media/image8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Relationship Id="rId17" Type="http://schemas.openxmlformats.org/officeDocument/2006/relationships/image" Target="../media/image7.png"/><Relationship Id="rId18" Type="http://schemas.openxmlformats.org/officeDocument/2006/relationships/image" Target="../media/image8.svg"/><Relationship Id="rId19" Type="http://schemas.openxmlformats.org/officeDocument/2006/relationships/image" Target="../media/image9.png"/><Relationship Id="rId20" Type="http://schemas.openxmlformats.org/officeDocument/2006/relationships/image" Target="../media/image10.svg"/><Relationship Id="rId21" Type="http://schemas.openxmlformats.org/officeDocument/2006/relationships/image" Target="../media/image11.png"/><Relationship Id="rId22" Type="http://schemas.openxmlformats.org/officeDocument/2006/relationships/image" Target="../media/image12.svg"/><Relationship Id="rId23" Type="http://schemas.openxmlformats.org/officeDocument/2006/relationships/image" Target="../media/image13.png"/><Relationship Id="rId24" Type="http://schemas.openxmlformats.org/officeDocument/2006/relationships/slideLayout" Target="../slideLayouts/slideLayout18.xml"/><Relationship Id="rId2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png"/><Relationship Id="rId8" Type="http://schemas.openxmlformats.org/officeDocument/2006/relationships/image" Target="../media/image21.svg"/><Relationship Id="rId9" Type="http://schemas.openxmlformats.org/officeDocument/2006/relationships/slideLayout" Target="../slideLayouts/slideLayout18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image" Target="../media/image29.png"/><Relationship Id="rId7" Type="http://schemas.openxmlformats.org/officeDocument/2006/relationships/image" Target="../media/image30.svg"/><Relationship Id="rId8" Type="http://schemas.openxmlformats.org/officeDocument/2006/relationships/slideLayout" Target="../slideLayouts/slideLayout18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svg"/><Relationship Id="rId5" Type="http://schemas.openxmlformats.org/officeDocument/2006/relationships/image" Target="../media/image34.png"/><Relationship Id="rId6" Type="http://schemas.openxmlformats.org/officeDocument/2006/relationships/image" Target="../media/image35.svg"/><Relationship Id="rId7" Type="http://schemas.openxmlformats.org/officeDocument/2006/relationships/image" Target="../media/image36.png"/><Relationship Id="rId8" Type="http://schemas.openxmlformats.org/officeDocument/2006/relationships/image" Target="../media/image37.svg"/><Relationship Id="rId9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svg"/><Relationship Id="rId3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sv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image" Target="../media/image46.png"/><Relationship Id="rId8" Type="http://schemas.openxmlformats.org/officeDocument/2006/relationships/image" Target="../media/image47.svg"/><Relationship Id="rId9" Type="http://schemas.openxmlformats.org/officeDocument/2006/relationships/image" Target="../media/image48.png"/><Relationship Id="rId10" Type="http://schemas.openxmlformats.org/officeDocument/2006/relationships/image" Target="../media/image49.svg"/><Relationship Id="rId11" Type="http://schemas.openxmlformats.org/officeDocument/2006/relationships/image" Target="../media/image50.png"/><Relationship Id="rId12" Type="http://schemas.openxmlformats.org/officeDocument/2006/relationships/image" Target="../media/image51.svg"/><Relationship Id="rId13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svg"/><Relationship Id="rId3" Type="http://schemas.openxmlformats.org/officeDocument/2006/relationships/image" Target="../media/image54.png"/><Relationship Id="rId4" Type="http://schemas.openxmlformats.org/officeDocument/2006/relationships/image" Target="../media/image55.svg"/><Relationship Id="rId5" Type="http://schemas.openxmlformats.org/officeDocument/2006/relationships/image" Target="../media/image56.png"/><Relationship Id="rId6" Type="http://schemas.openxmlformats.org/officeDocument/2006/relationships/image" Target="../media/image57.svg"/><Relationship Id="rId7" Type="http://schemas.openxmlformats.org/officeDocument/2006/relationships/slideLayout" Target="../slideLayouts/slideLayout18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5360" y="670680"/>
            <a:ext cx="11593080" cy="131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1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Efficient Simulation of Multimode Bosonic Systems: A Tensor Network and Monte Carlo based method</a:t>
            </a:r>
            <a:br>
              <a:rPr sz="4100"/>
            </a:b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5360" y="2072520"/>
            <a:ext cx="10508040" cy="4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Jean-Baptiste Bertrand, Baptiste Royer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15360" y="2540880"/>
            <a:ext cx="2875320" cy="4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March 18th, 2024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7101360" y="6229800"/>
            <a:ext cx="3091320" cy="42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10140840" y="5985000"/>
            <a:ext cx="2043720" cy="86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6800">
            <a:off x="2954160" y="6143040"/>
            <a:ext cx="1182600" cy="56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5"/>
          <a:stretch/>
        </p:blipFill>
        <p:spPr>
          <a:xfrm rot="18000">
            <a:off x="4443480" y="5959080"/>
            <a:ext cx="2445840" cy="81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6"/>
          <a:stretch/>
        </p:blipFill>
        <p:spPr>
          <a:xfrm>
            <a:off x="0" y="5949000"/>
            <a:ext cx="2850480" cy="91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968760" y="569520"/>
            <a:ext cx="5610240" cy="14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464760" y="0"/>
            <a:ext cx="11064960" cy="15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Goal: 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Simulate </a:t>
            </a:r>
            <a:r>
              <a:rPr b="0" i="1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large 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quantum circuits where qubits are encoded in </a:t>
            </a:r>
            <a:r>
              <a:rPr b="0" i="1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bosonic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 </a:t>
            </a:r>
            <a:r>
              <a:rPr b="0" i="1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modes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515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8665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3374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21524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3374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21524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6028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34178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6028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34178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87512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469008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87512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469008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1336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59486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3368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594864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05156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233748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233748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360288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3602880" y="281808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487512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487512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613368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613368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74091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72241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4091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72241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6745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84895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6745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84895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94680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976176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94680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976176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12053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2" name=""/>
          <p:cNvSpPr/>
          <p:nvPr/>
        </p:nvSpPr>
        <p:spPr>
          <a:xfrm>
            <a:off x="110203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1205360" y="407772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11020320" y="3704760"/>
            <a:ext cx="365760" cy="366120"/>
          </a:xfrm>
          <a:prstGeom prst="rect">
            <a:avLst/>
          </a:prstGeom>
          <a:solidFill>
            <a:srgbClr val="9daf9a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40916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740916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867456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867456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994680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9946800" y="3482280"/>
            <a:ext cx="360" cy="2224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858240" y="3047040"/>
            <a:ext cx="1651320" cy="422280"/>
          </a:xfrm>
          <a:prstGeom prst="rect">
            <a:avLst/>
          </a:prstGeom>
          <a:solidFill>
            <a:srgbClr val="0053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132280" y="2388960"/>
            <a:ext cx="1651320" cy="422280"/>
          </a:xfrm>
          <a:prstGeom prst="rect">
            <a:avLst/>
          </a:prstGeom>
          <a:solidFill>
            <a:srgbClr val="0053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417840" y="304704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858240" y="304704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051560" y="216036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2342160" y="216072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3602880" y="216108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2132280" y="238896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942520" y="304704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866840" y="216072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6127560" y="216108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4656960" y="238896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488440" y="304704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412760" y="216072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8673480" y="216108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7202880" y="238896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9947880" y="2160720"/>
            <a:ext cx="360" cy="886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11208600" y="2161080"/>
            <a:ext cx="360" cy="154368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9738000" y="2388960"/>
            <a:ext cx="1651320" cy="422280"/>
          </a:xfrm>
          <a:prstGeom prst="rect">
            <a:avLst/>
          </a:prstGeom>
          <a:solidFill>
            <a:srgbClr val="d75f50"/>
          </a:solidFill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CNOT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06920" y="148320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279520" y="148356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564000" y="148356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816800" y="148356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069600" y="148392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351920" y="148392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626680" y="148392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9909000" y="148392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11139840" y="1483920"/>
            <a:ext cx="104040" cy="4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1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1910160" y="5954400"/>
            <a:ext cx="4147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6975360" y="5508000"/>
            <a:ext cx="3605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7321680" y="5983200"/>
            <a:ext cx="3071160" cy="23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23"/>
          <a:stretch/>
        </p:blipFill>
        <p:spPr>
          <a:xfrm>
            <a:off x="109440" y="4359960"/>
            <a:ext cx="11979720" cy="12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18720"/>
            <a:ext cx="1169028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 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Tensor Networks allow you to represent systems in more efficient ways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4239720" y="961560"/>
            <a:ext cx="825480" cy="1283760"/>
            <a:chOff x="4239720" y="961560"/>
            <a:chExt cx="825480" cy="1283760"/>
          </a:xfrm>
        </p:grpSpPr>
        <p:sp>
          <p:nvSpPr>
            <p:cNvPr id="156" name=""/>
            <p:cNvSpPr/>
            <p:nvPr/>
          </p:nvSpPr>
          <p:spPr>
            <a:xfrm>
              <a:off x="4239720" y="1419840"/>
              <a:ext cx="825480" cy="82548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4655880" y="961560"/>
              <a:ext cx="360" cy="45828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5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60840" y="1301040"/>
            <a:ext cx="1925280" cy="789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9" name=""/>
          <p:cNvGrpSpPr/>
          <p:nvPr/>
        </p:nvGrpSpPr>
        <p:grpSpPr>
          <a:xfrm>
            <a:off x="1704240" y="2420640"/>
            <a:ext cx="3361320" cy="1748880"/>
            <a:chOff x="1704240" y="2420640"/>
            <a:chExt cx="3361320" cy="1748880"/>
          </a:xfrm>
        </p:grpSpPr>
        <p:pic>
          <p:nvPicPr>
            <p:cNvPr id="160" name="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1704240" y="2729880"/>
              <a:ext cx="2080800" cy="11995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1" name=""/>
            <p:cNvGrpSpPr/>
            <p:nvPr/>
          </p:nvGrpSpPr>
          <p:grpSpPr>
            <a:xfrm>
              <a:off x="4240080" y="2420640"/>
              <a:ext cx="825480" cy="1748880"/>
              <a:chOff x="4240080" y="2420640"/>
              <a:chExt cx="825480" cy="1748880"/>
            </a:xfrm>
          </p:grpSpPr>
          <p:sp>
            <p:nvSpPr>
              <p:cNvPr id="162" name=""/>
              <p:cNvSpPr/>
              <p:nvPr/>
            </p:nvSpPr>
            <p:spPr>
              <a:xfrm>
                <a:off x="4240080" y="2878920"/>
                <a:ext cx="825480" cy="825480"/>
              </a:xfrm>
              <a:prstGeom prst="ellipse">
                <a:avLst/>
              </a:prstGeom>
              <a:solidFill>
                <a:srgbClr val="d75f57"/>
              </a:solidFill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4656240" y="2420640"/>
                <a:ext cx="360" cy="458280"/>
              </a:xfrm>
              <a:prstGeom prst="line">
                <a:avLst/>
              </a:prstGeom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4656240" y="3711240"/>
                <a:ext cx="360" cy="458280"/>
              </a:xfrm>
              <a:prstGeom prst="line">
                <a:avLst/>
              </a:prstGeom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4241880" y="2879280"/>
                <a:ext cx="823680" cy="825120"/>
              </a:xfrm>
              <a:prstGeom prst="rect">
                <a:avLst/>
              </a:prstGeom>
              <a:solidFill>
                <a:srgbClr val="d75f57"/>
              </a:solidFill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166" name=""/>
          <p:cNvGrpSpPr/>
          <p:nvPr/>
        </p:nvGrpSpPr>
        <p:grpSpPr>
          <a:xfrm>
            <a:off x="1181880" y="4241160"/>
            <a:ext cx="1014120" cy="1576440"/>
            <a:chOff x="1181880" y="4241160"/>
            <a:chExt cx="1014120" cy="1576440"/>
          </a:xfrm>
        </p:grpSpPr>
        <p:sp>
          <p:nvSpPr>
            <p:cNvPr id="167" name=""/>
            <p:cNvSpPr/>
            <p:nvPr/>
          </p:nvSpPr>
          <p:spPr>
            <a:xfrm>
              <a:off x="118188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169236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69" name=""/>
          <p:cNvGrpSpPr/>
          <p:nvPr/>
        </p:nvGrpSpPr>
        <p:grpSpPr>
          <a:xfrm>
            <a:off x="4716360" y="4241160"/>
            <a:ext cx="1014120" cy="1576440"/>
            <a:chOff x="4716360" y="4241160"/>
            <a:chExt cx="1014120" cy="1576440"/>
          </a:xfrm>
        </p:grpSpPr>
        <p:sp>
          <p:nvSpPr>
            <p:cNvPr id="170" name=""/>
            <p:cNvSpPr/>
            <p:nvPr/>
          </p:nvSpPr>
          <p:spPr>
            <a:xfrm>
              <a:off x="471636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522684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2" name=""/>
          <p:cNvGrpSpPr/>
          <p:nvPr/>
        </p:nvGrpSpPr>
        <p:grpSpPr>
          <a:xfrm>
            <a:off x="2949120" y="4241160"/>
            <a:ext cx="1014120" cy="1576440"/>
            <a:chOff x="2949120" y="4241160"/>
            <a:chExt cx="1014120" cy="1576440"/>
          </a:xfrm>
        </p:grpSpPr>
        <p:sp>
          <p:nvSpPr>
            <p:cNvPr id="173" name=""/>
            <p:cNvSpPr/>
            <p:nvPr/>
          </p:nvSpPr>
          <p:spPr>
            <a:xfrm>
              <a:off x="294912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345960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5" name=""/>
          <p:cNvGrpSpPr/>
          <p:nvPr/>
        </p:nvGrpSpPr>
        <p:grpSpPr>
          <a:xfrm>
            <a:off x="6483600" y="4241160"/>
            <a:ext cx="1014120" cy="1576440"/>
            <a:chOff x="6483600" y="4241160"/>
            <a:chExt cx="1014120" cy="1576440"/>
          </a:xfrm>
        </p:grpSpPr>
        <p:sp>
          <p:nvSpPr>
            <p:cNvPr id="176" name=""/>
            <p:cNvSpPr/>
            <p:nvPr/>
          </p:nvSpPr>
          <p:spPr>
            <a:xfrm>
              <a:off x="648360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699408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8250840" y="4241160"/>
            <a:ext cx="1014120" cy="1576440"/>
            <a:chOff x="8250840" y="4241160"/>
            <a:chExt cx="1014120" cy="1576440"/>
          </a:xfrm>
        </p:grpSpPr>
        <p:sp>
          <p:nvSpPr>
            <p:cNvPr id="179" name=""/>
            <p:cNvSpPr/>
            <p:nvPr/>
          </p:nvSpPr>
          <p:spPr>
            <a:xfrm>
              <a:off x="825084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876132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81" name=""/>
          <p:cNvGrpSpPr/>
          <p:nvPr/>
        </p:nvGrpSpPr>
        <p:grpSpPr>
          <a:xfrm>
            <a:off x="10018080" y="4241160"/>
            <a:ext cx="1014120" cy="1576440"/>
            <a:chOff x="10018080" y="4241160"/>
            <a:chExt cx="1014120" cy="1576440"/>
          </a:xfrm>
        </p:grpSpPr>
        <p:sp>
          <p:nvSpPr>
            <p:cNvPr id="182" name=""/>
            <p:cNvSpPr/>
            <p:nvPr/>
          </p:nvSpPr>
          <p:spPr>
            <a:xfrm>
              <a:off x="10018080" y="48034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10528560" y="42411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84" name=""/>
          <p:cNvSpPr/>
          <p:nvPr/>
        </p:nvSpPr>
        <p:spPr>
          <a:xfrm>
            <a:off x="2202840" y="530208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9271800" y="530208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3970080" y="530208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7504560" y="530208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-73080" bIns="-73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5737320" y="5302080"/>
            <a:ext cx="746280" cy="360"/>
          </a:xfrm>
          <a:prstGeom prst="line">
            <a:avLst/>
          </a:prstGeom>
          <a:ln w="7632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-83160" bIns="-831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9" name=""/>
          <p:cNvSpPr/>
          <p:nvPr/>
        </p:nvSpPr>
        <p:spPr>
          <a:xfrm rot="10800000">
            <a:off x="5975280" y="4124160"/>
            <a:ext cx="380520" cy="1054080"/>
          </a:xfrm>
          <a:custGeom>
            <a:avLst/>
            <a:gdLst>
              <a:gd name="textAreaLeft" fmla="*/ 0 w 380520"/>
              <a:gd name="textAreaRight" fmla="*/ 387360 w 380520"/>
              <a:gd name="textAreaTop" fmla="*/ 0 h 1054080"/>
              <a:gd name="textAreaBottom" fmla="*/ 1064520 h 1054080"/>
            </a:gdLst>
            <a:ahLst/>
            <a:rect l="textAreaLeft" t="textAreaTop" r="textAreaRight" b="textAreaBottom"/>
            <a:pathLst>
              <a:path fill="none" w="1076" h="1852">
                <a:moveTo>
                  <a:pt x="0" y="1852"/>
                </a:moveTo>
                <a:cubicBezTo>
                  <a:pt x="187" y="755"/>
                  <a:pt x="1051" y="1124"/>
                  <a:pt x="1076" y="0"/>
                </a:cubicBezTo>
              </a:path>
            </a:pathLst>
          </a:custGeom>
          <a:noFill/>
          <a:ln w="1908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90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2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213240" y="1814400"/>
            <a:ext cx="3605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Large quantum circuit/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Quantum computer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5400000">
            <a:off x="7341480" y="3559320"/>
            <a:ext cx="1388160" cy="43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186520" y="3818520"/>
            <a:ext cx="2484000" cy="3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"/>
          <p:cNvSpPr txBox="1"/>
          <p:nvPr/>
        </p:nvSpPr>
        <p:spPr>
          <a:xfrm>
            <a:off x="-31680" y="5910480"/>
            <a:ext cx="12203640" cy="98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[1]Collura M </a:t>
            </a:r>
            <a:r>
              <a:rPr b="0" i="1" lang="en-US" sz="1800" strike="noStrike" u="none">
                <a:solidFill>
                  <a:srgbClr val="000000"/>
                </a:solidFill>
                <a:uFillTx/>
                <a:latin typeface="CMU Serif"/>
              </a:rPr>
              <a:t>et al.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 2024 Tensor Network Techniques for Quantum Computation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[2]Berezutskii A </a:t>
            </a:r>
            <a:r>
              <a:rPr b="0" i="1" lang="en-US" sz="1800" strike="noStrike" u="none">
                <a:solidFill>
                  <a:srgbClr val="000000"/>
                </a:solidFill>
                <a:uFillTx/>
                <a:latin typeface="CMU Serif"/>
              </a:rPr>
              <a:t>et al.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 2025 Tensor networks for quantum computing (arXiv) 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[3]Orus R 2014 Annals of Physics 349 117 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18720"/>
            <a:ext cx="1169028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 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Tensor Networks allow you to represent systems in more efficient ways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273400" y="2906640"/>
            <a:ext cx="7224840" cy="95760"/>
          </a:xfrm>
          <a:prstGeom prst="roundRect">
            <a:avLst>
              <a:gd name="adj" fmla="val 50000"/>
            </a:avLst>
          </a:prstGeom>
          <a:solidFill>
            <a:srgbClr val="9191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3087360" y="2784240"/>
            <a:ext cx="340920" cy="324360"/>
          </a:xfrm>
          <a:prstGeom prst="ellipse">
            <a:avLst/>
          </a:prstGeom>
          <a:solidFill>
            <a:srgbClr val="0053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9534240" y="2584800"/>
            <a:ext cx="2272320" cy="13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High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Very Accurate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16760" y="2530800"/>
            <a:ext cx="1451880" cy="13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Low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Very fast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371920" y="1882080"/>
            <a:ext cx="1298880" cy="73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1" name=""/>
          <p:cNvGrpSpPr/>
          <p:nvPr/>
        </p:nvGrpSpPr>
        <p:grpSpPr>
          <a:xfrm>
            <a:off x="1182240" y="4241520"/>
            <a:ext cx="1014120" cy="1576440"/>
            <a:chOff x="1182240" y="4241520"/>
            <a:chExt cx="1014120" cy="1576440"/>
          </a:xfrm>
        </p:grpSpPr>
        <p:sp>
          <p:nvSpPr>
            <p:cNvPr id="202" name=""/>
            <p:cNvSpPr/>
            <p:nvPr/>
          </p:nvSpPr>
          <p:spPr>
            <a:xfrm>
              <a:off x="118224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169272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04" name=""/>
          <p:cNvGrpSpPr/>
          <p:nvPr/>
        </p:nvGrpSpPr>
        <p:grpSpPr>
          <a:xfrm>
            <a:off x="4716720" y="4241520"/>
            <a:ext cx="1014120" cy="1576440"/>
            <a:chOff x="4716720" y="4241520"/>
            <a:chExt cx="1014120" cy="1576440"/>
          </a:xfrm>
        </p:grpSpPr>
        <p:sp>
          <p:nvSpPr>
            <p:cNvPr id="205" name=""/>
            <p:cNvSpPr/>
            <p:nvPr/>
          </p:nvSpPr>
          <p:spPr>
            <a:xfrm>
              <a:off x="471672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522720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07" name=""/>
          <p:cNvGrpSpPr/>
          <p:nvPr/>
        </p:nvGrpSpPr>
        <p:grpSpPr>
          <a:xfrm>
            <a:off x="2949480" y="4241520"/>
            <a:ext cx="1014120" cy="1576440"/>
            <a:chOff x="2949480" y="4241520"/>
            <a:chExt cx="1014120" cy="1576440"/>
          </a:xfrm>
        </p:grpSpPr>
        <p:sp>
          <p:nvSpPr>
            <p:cNvPr id="208" name=""/>
            <p:cNvSpPr/>
            <p:nvPr/>
          </p:nvSpPr>
          <p:spPr>
            <a:xfrm>
              <a:off x="294948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345996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10" name=""/>
          <p:cNvGrpSpPr/>
          <p:nvPr/>
        </p:nvGrpSpPr>
        <p:grpSpPr>
          <a:xfrm>
            <a:off x="6483960" y="4241520"/>
            <a:ext cx="1014120" cy="1576440"/>
            <a:chOff x="6483960" y="4241520"/>
            <a:chExt cx="1014120" cy="1576440"/>
          </a:xfrm>
        </p:grpSpPr>
        <p:sp>
          <p:nvSpPr>
            <p:cNvPr id="211" name=""/>
            <p:cNvSpPr/>
            <p:nvPr/>
          </p:nvSpPr>
          <p:spPr>
            <a:xfrm>
              <a:off x="648396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699444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13" name=""/>
          <p:cNvGrpSpPr/>
          <p:nvPr/>
        </p:nvGrpSpPr>
        <p:grpSpPr>
          <a:xfrm>
            <a:off x="8251200" y="4241520"/>
            <a:ext cx="1014120" cy="1576440"/>
            <a:chOff x="8251200" y="4241520"/>
            <a:chExt cx="1014120" cy="1576440"/>
          </a:xfrm>
        </p:grpSpPr>
        <p:sp>
          <p:nvSpPr>
            <p:cNvPr id="214" name=""/>
            <p:cNvSpPr/>
            <p:nvPr/>
          </p:nvSpPr>
          <p:spPr>
            <a:xfrm>
              <a:off x="825120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876168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16" name=""/>
          <p:cNvGrpSpPr/>
          <p:nvPr/>
        </p:nvGrpSpPr>
        <p:grpSpPr>
          <a:xfrm>
            <a:off x="10018440" y="4241520"/>
            <a:ext cx="1014120" cy="1576440"/>
            <a:chOff x="10018440" y="4241520"/>
            <a:chExt cx="1014120" cy="1576440"/>
          </a:xfrm>
        </p:grpSpPr>
        <p:sp>
          <p:nvSpPr>
            <p:cNvPr id="217" name=""/>
            <p:cNvSpPr/>
            <p:nvPr/>
          </p:nvSpPr>
          <p:spPr>
            <a:xfrm>
              <a:off x="10018440" y="480384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10528920" y="424152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19" name=""/>
          <p:cNvSpPr/>
          <p:nvPr/>
        </p:nvSpPr>
        <p:spPr>
          <a:xfrm>
            <a:off x="2203200" y="530244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9272160" y="530244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3970440" y="530244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2" name=""/>
          <p:cNvSpPr/>
          <p:nvPr/>
        </p:nvSpPr>
        <p:spPr>
          <a:xfrm>
            <a:off x="7504920" y="530244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-73080" bIns="-73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3" name=""/>
          <p:cNvSpPr/>
          <p:nvPr/>
        </p:nvSpPr>
        <p:spPr>
          <a:xfrm>
            <a:off x="5737680" y="5302440"/>
            <a:ext cx="746280" cy="360"/>
          </a:xfrm>
          <a:prstGeom prst="line">
            <a:avLst/>
          </a:prstGeom>
          <a:ln w="7632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-83160" bIns="-831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4" name=""/>
          <p:cNvSpPr/>
          <p:nvPr/>
        </p:nvSpPr>
        <p:spPr>
          <a:xfrm rot="10800000">
            <a:off x="5975640" y="4124520"/>
            <a:ext cx="380520" cy="1054080"/>
          </a:xfrm>
          <a:custGeom>
            <a:avLst/>
            <a:gdLst>
              <a:gd name="textAreaLeft" fmla="*/ 0 w 380520"/>
              <a:gd name="textAreaRight" fmla="*/ 387360 w 380520"/>
              <a:gd name="textAreaTop" fmla="*/ 0 h 1054080"/>
              <a:gd name="textAreaBottom" fmla="*/ 1064520 h 1054080"/>
            </a:gdLst>
            <a:ahLst/>
            <a:rect l="textAreaLeft" t="textAreaTop" r="textAreaRight" b="textAreaBottom"/>
            <a:pathLst>
              <a:path fill="none" w="1076" h="1852">
                <a:moveTo>
                  <a:pt x="0" y="1852"/>
                </a:moveTo>
                <a:cubicBezTo>
                  <a:pt x="187" y="755"/>
                  <a:pt x="1051" y="1124"/>
                  <a:pt x="1076" y="0"/>
                </a:cubicBezTo>
              </a:path>
            </a:pathLst>
          </a:custGeom>
          <a:noFill/>
          <a:ln w="1908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11881440" y="651276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396760" y="3761640"/>
            <a:ext cx="2484000" cy="3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"/>
          <p:cNvSpPr txBox="1"/>
          <p:nvPr/>
        </p:nvSpPr>
        <p:spPr>
          <a:xfrm>
            <a:off x="-31320" y="5910840"/>
            <a:ext cx="10594800" cy="98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[1]Collura M </a:t>
            </a:r>
            <a:r>
              <a:rPr b="0" i="1" lang="en-US" sz="1800" strike="noStrike" u="none">
                <a:solidFill>
                  <a:srgbClr val="000000"/>
                </a:solidFill>
                <a:uFillTx/>
                <a:latin typeface="CMU Serif"/>
              </a:rPr>
              <a:t>et al.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 2024 Tensor Network Techniques for Quantum Computation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[2]Berezutskii A </a:t>
            </a:r>
            <a:r>
              <a:rPr b="0" i="1" lang="en-US" sz="1800" strike="noStrike" u="none">
                <a:solidFill>
                  <a:srgbClr val="000000"/>
                </a:solidFill>
                <a:uFillTx/>
                <a:latin typeface="CMU Serif"/>
              </a:rPr>
              <a:t>et al.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 2025 Tensor networks for quantum computing (arXiv) 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[3]Orus R 2014 Annals of Physics 349 117 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  <a:ea typeface="Source Han Sans C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>
            <a:off x="0" y="0"/>
            <a:ext cx="1169028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 </a:t>
            </a:r>
            <a:r>
              <a:rPr b="0" lang="en-US" sz="30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Low bond dimension should be required for bosonic circuits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0" name=""/>
          <p:cNvGrpSpPr/>
          <p:nvPr/>
        </p:nvGrpSpPr>
        <p:grpSpPr>
          <a:xfrm>
            <a:off x="1181880" y="2908800"/>
            <a:ext cx="1014120" cy="2966400"/>
            <a:chOff x="1181880" y="2908800"/>
            <a:chExt cx="1014120" cy="2966400"/>
          </a:xfrm>
        </p:grpSpPr>
        <p:sp>
          <p:nvSpPr>
            <p:cNvPr id="231" name=""/>
            <p:cNvSpPr/>
            <p:nvPr/>
          </p:nvSpPr>
          <p:spPr>
            <a:xfrm>
              <a:off x="118188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169236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169272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1693080" y="290880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35" name=""/>
          <p:cNvGrpSpPr/>
          <p:nvPr/>
        </p:nvGrpSpPr>
        <p:grpSpPr>
          <a:xfrm>
            <a:off x="4716360" y="4298760"/>
            <a:ext cx="1014120" cy="1576440"/>
            <a:chOff x="4716360" y="4298760"/>
            <a:chExt cx="1014120" cy="1576440"/>
          </a:xfrm>
        </p:grpSpPr>
        <p:sp>
          <p:nvSpPr>
            <p:cNvPr id="236" name=""/>
            <p:cNvSpPr/>
            <p:nvPr/>
          </p:nvSpPr>
          <p:spPr>
            <a:xfrm>
              <a:off x="471636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522684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38" name=""/>
          <p:cNvGrpSpPr/>
          <p:nvPr/>
        </p:nvGrpSpPr>
        <p:grpSpPr>
          <a:xfrm>
            <a:off x="2949120" y="2908800"/>
            <a:ext cx="1014120" cy="2966400"/>
            <a:chOff x="2949120" y="2908800"/>
            <a:chExt cx="1014120" cy="2966400"/>
          </a:xfrm>
        </p:grpSpPr>
        <p:sp>
          <p:nvSpPr>
            <p:cNvPr id="239" name=""/>
            <p:cNvSpPr/>
            <p:nvPr/>
          </p:nvSpPr>
          <p:spPr>
            <a:xfrm>
              <a:off x="294912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345960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3459960" y="290880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42" name=""/>
          <p:cNvGrpSpPr/>
          <p:nvPr/>
        </p:nvGrpSpPr>
        <p:grpSpPr>
          <a:xfrm>
            <a:off x="6483600" y="4298760"/>
            <a:ext cx="1014120" cy="1576440"/>
            <a:chOff x="6483600" y="4298760"/>
            <a:chExt cx="1014120" cy="1576440"/>
          </a:xfrm>
        </p:grpSpPr>
        <p:sp>
          <p:nvSpPr>
            <p:cNvPr id="243" name=""/>
            <p:cNvSpPr/>
            <p:nvPr/>
          </p:nvSpPr>
          <p:spPr>
            <a:xfrm>
              <a:off x="648360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699408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45" name=""/>
          <p:cNvGrpSpPr/>
          <p:nvPr/>
        </p:nvGrpSpPr>
        <p:grpSpPr>
          <a:xfrm>
            <a:off x="8250840" y="4298760"/>
            <a:ext cx="1014120" cy="1576440"/>
            <a:chOff x="8250840" y="4298760"/>
            <a:chExt cx="1014120" cy="1576440"/>
          </a:xfrm>
        </p:grpSpPr>
        <p:sp>
          <p:nvSpPr>
            <p:cNvPr id="246" name=""/>
            <p:cNvSpPr/>
            <p:nvPr/>
          </p:nvSpPr>
          <p:spPr>
            <a:xfrm>
              <a:off x="825084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876132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48" name=""/>
          <p:cNvGrpSpPr/>
          <p:nvPr/>
        </p:nvGrpSpPr>
        <p:grpSpPr>
          <a:xfrm>
            <a:off x="10018080" y="4298760"/>
            <a:ext cx="1014120" cy="1576440"/>
            <a:chOff x="10018080" y="4298760"/>
            <a:chExt cx="1014120" cy="1576440"/>
          </a:xfrm>
        </p:grpSpPr>
        <p:sp>
          <p:nvSpPr>
            <p:cNvPr id="249" name=""/>
            <p:cNvSpPr/>
            <p:nvPr/>
          </p:nvSpPr>
          <p:spPr>
            <a:xfrm>
              <a:off x="10018080" y="4861080"/>
              <a:ext cx="1014120" cy="1014120"/>
            </a:xfrm>
            <a:prstGeom prst="ellipse">
              <a:avLst/>
            </a:prstGeom>
            <a:solidFill>
              <a:srgbClr val="9daf9a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10528560" y="4298760"/>
              <a:ext cx="360" cy="562320"/>
            </a:xfrm>
            <a:prstGeom prst="line">
              <a:avLst/>
            </a:prstGeom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51" name=""/>
          <p:cNvSpPr/>
          <p:nvPr/>
        </p:nvSpPr>
        <p:spPr>
          <a:xfrm>
            <a:off x="2202840" y="535968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2" name=""/>
          <p:cNvSpPr/>
          <p:nvPr/>
        </p:nvSpPr>
        <p:spPr>
          <a:xfrm>
            <a:off x="9271800" y="5359680"/>
            <a:ext cx="746280" cy="360"/>
          </a:xfrm>
          <a:prstGeom prst="line">
            <a:avLst/>
          </a:prstGeom>
          <a:ln w="1908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3" name=""/>
          <p:cNvSpPr/>
          <p:nvPr/>
        </p:nvSpPr>
        <p:spPr>
          <a:xfrm>
            <a:off x="3970080" y="535968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4" name=""/>
          <p:cNvSpPr/>
          <p:nvPr/>
        </p:nvSpPr>
        <p:spPr>
          <a:xfrm>
            <a:off x="7504560" y="5359680"/>
            <a:ext cx="746280" cy="360"/>
          </a:xfrm>
          <a:prstGeom prst="line">
            <a:avLst/>
          </a:prstGeom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-73080" bIns="-73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5" name=""/>
          <p:cNvSpPr/>
          <p:nvPr/>
        </p:nvSpPr>
        <p:spPr>
          <a:xfrm>
            <a:off x="5737320" y="5359680"/>
            <a:ext cx="746280" cy="360"/>
          </a:xfrm>
          <a:prstGeom prst="line">
            <a:avLst/>
          </a:prstGeom>
          <a:ln w="7632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-83160" bIns="-831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6" name=""/>
          <p:cNvSpPr/>
          <p:nvPr/>
        </p:nvSpPr>
        <p:spPr>
          <a:xfrm>
            <a:off x="1278360" y="3471120"/>
            <a:ext cx="2638440" cy="825120"/>
          </a:xfrm>
          <a:prstGeom prst="rect">
            <a:avLst/>
          </a:prstGeom>
          <a:solidFill>
            <a:srgbClr val="d75f57"/>
          </a:solidFill>
          <a:ln w="57240">
            <a:solidFill>
              <a:srgbClr val="0715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71519"/>
                </a:solidFill>
                <a:uFillTx/>
                <a:latin typeface="CMU Sans Serif"/>
                <a:ea typeface="DejaVu Sans"/>
              </a:rPr>
              <a:t>CNOT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091200" y="3954960"/>
            <a:ext cx="1246320" cy="970920"/>
          </a:xfrm>
          <a:custGeom>
            <a:avLst/>
            <a:gdLst>
              <a:gd name="textAreaLeft" fmla="*/ 0 w 1246320"/>
              <a:gd name="textAreaRight" fmla="*/ 1249920 w 1246320"/>
              <a:gd name="textAreaTop" fmla="*/ 0 h 970920"/>
              <a:gd name="textAreaBottom" fmla="*/ 974520 h 970920"/>
            </a:gdLst>
            <a:ahLst/>
            <a:rect l="textAreaLeft" t="textAreaTop" r="textAreaRight" b="textAreaBottom"/>
            <a:pathLst>
              <a:path fill="none" w="3472" h="2707">
                <a:moveTo>
                  <a:pt x="0" y="2707"/>
                </a:moveTo>
                <a:cubicBezTo>
                  <a:pt x="0" y="0"/>
                  <a:pt x="1885" y="0"/>
                  <a:pt x="3472" y="0"/>
                </a:cubicBezTo>
              </a:path>
            </a:pathLst>
          </a:custGeom>
          <a:noFill/>
          <a:ln w="2916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>
              <a:lnSpc>
                <a:spcPct val="100000"/>
              </a:lnSpc>
            </a:pPr>
            <a:endParaRPr b="1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8" name=""/>
          <p:cNvSpPr/>
          <p:nvPr/>
        </p:nvSpPr>
        <p:spPr>
          <a:xfrm>
            <a:off x="7455960" y="3420360"/>
            <a:ext cx="368172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Required dimension for 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this link should be </a:t>
            </a:r>
            <a:r>
              <a:rPr b="0" i="1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small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363040" y="1439280"/>
            <a:ext cx="801432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Acts on logical subspace and </a:t>
            </a:r>
            <a:r>
              <a:rPr b="0" i="1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should</a:t>
            </a: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 generate about as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 </a:t>
            </a: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much entanglement whether acting on cavities or TLSs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4019400" y="2367000"/>
            <a:ext cx="1472760" cy="1482120"/>
          </a:xfrm>
          <a:custGeom>
            <a:avLst/>
            <a:gdLst>
              <a:gd name="textAreaLeft" fmla="*/ 0 w 1472760"/>
              <a:gd name="textAreaRight" fmla="*/ 1476360 w 1472760"/>
              <a:gd name="textAreaTop" fmla="*/ 0 h 1482120"/>
              <a:gd name="textAreaBottom" fmla="*/ 1485720 h 1482120"/>
            </a:gdLst>
            <a:ahLst/>
            <a:rect l="textAreaLeft" t="textAreaTop" r="textAreaRight" b="textAreaBottom"/>
            <a:pathLst>
              <a:path fill="none" w="4101" h="4127">
                <a:moveTo>
                  <a:pt x="0" y="4127"/>
                </a:moveTo>
                <a:cubicBezTo>
                  <a:pt x="3440" y="4127"/>
                  <a:pt x="4101" y="1825"/>
                  <a:pt x="4101" y="0"/>
                </a:cubicBezTo>
              </a:path>
            </a:pathLst>
          </a:custGeom>
          <a:noFill/>
          <a:ln w="2916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>
              <a:lnSpc>
                <a:spcPct val="100000"/>
              </a:lnSpc>
            </a:pPr>
            <a:endParaRPr b="1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61" name=""/>
          <p:cNvSpPr/>
          <p:nvPr/>
        </p:nvSpPr>
        <p:spPr>
          <a:xfrm>
            <a:off x="3074040" y="6396840"/>
            <a:ext cx="680760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Each of these is a cavity that encode a qubit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2089080" y="5931360"/>
            <a:ext cx="789480" cy="605520"/>
          </a:xfrm>
          <a:custGeom>
            <a:avLst/>
            <a:gdLst>
              <a:gd name="textAreaLeft" fmla="*/ 0 w 789480"/>
              <a:gd name="textAreaRight" fmla="*/ 790200 w 789480"/>
              <a:gd name="textAreaTop" fmla="*/ 0 h 605520"/>
              <a:gd name="textAreaBottom" fmla="*/ 606240 h 605520"/>
            </a:gdLst>
            <a:ahLst/>
            <a:rect l="textAreaLeft" t="textAreaTop" r="textAreaRight" b="textAreaBottom"/>
            <a:pathLst>
              <a:path fill="none" w="2195" h="1684">
                <a:moveTo>
                  <a:pt x="2195" y="1684"/>
                </a:moveTo>
                <a:cubicBezTo>
                  <a:pt x="1353" y="1684"/>
                  <a:pt x="601" y="752"/>
                  <a:pt x="0" y="0"/>
                </a:cubicBezTo>
              </a:path>
            </a:pathLst>
          </a:custGeom>
          <a:noFill/>
          <a:ln w="2916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>
              <a:lnSpc>
                <a:spcPct val="100000"/>
              </a:lnSpc>
            </a:pPr>
            <a:endParaRPr b="1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1036008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Monte Carlo: using vectors instead of density matrices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tretch/>
        </p:blipFill>
        <p:spPr>
          <a:xfrm>
            <a:off x="417600" y="1796040"/>
            <a:ext cx="11348640" cy="36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6" name=""/>
          <p:cNvGrpSpPr/>
          <p:nvPr/>
        </p:nvGrpSpPr>
        <p:grpSpPr>
          <a:xfrm>
            <a:off x="1960920" y="5403240"/>
            <a:ext cx="8265600" cy="1061280"/>
            <a:chOff x="1960920" y="5403240"/>
            <a:chExt cx="8265600" cy="1061280"/>
          </a:xfrm>
        </p:grpSpPr>
        <p:pic>
          <p:nvPicPr>
            <p:cNvPr id="267" name="" descr=""/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1960920" y="5403240"/>
              <a:ext cx="826560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8" name="" descr=""/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2838600" y="6165000"/>
              <a:ext cx="6509880" cy="2995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69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364200" y="1231560"/>
            <a:ext cx="5458680" cy="31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"/>
          <p:cNvGrpSpPr/>
          <p:nvPr/>
        </p:nvGrpSpPr>
        <p:grpSpPr>
          <a:xfrm>
            <a:off x="1700280" y="529200"/>
            <a:ext cx="8876160" cy="1466640"/>
            <a:chOff x="1700280" y="529200"/>
            <a:chExt cx="8876160" cy="1466640"/>
          </a:xfrm>
        </p:grpSpPr>
        <p:pic>
          <p:nvPicPr>
            <p:cNvPr id="271" name="" descr=""/>
            <p:cNvPicPr/>
            <p:nvPr/>
          </p:nvPicPr>
          <p:blipFill>
            <a:blip r:embed="rId1"/>
            <a:stretch/>
          </p:blipFill>
          <p:spPr>
            <a:xfrm>
              <a:off x="9253440" y="529200"/>
              <a:ext cx="1323000" cy="1257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2" name="" descr=""/>
            <p:cNvPicPr/>
            <p:nvPr/>
          </p:nvPicPr>
          <p:blipFill>
            <a:blip r:embed="rId2"/>
            <a:stretch/>
          </p:blipFill>
          <p:spPr>
            <a:xfrm>
              <a:off x="1700280" y="529200"/>
              <a:ext cx="1323000" cy="1257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3" name="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2747880" y="890280"/>
              <a:ext cx="6758640" cy="110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4" name=""/>
          <p:cNvSpPr/>
          <p:nvPr/>
        </p:nvSpPr>
        <p:spPr>
          <a:xfrm>
            <a:off x="-56160" y="0"/>
            <a:ext cx="1063260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Source Han Sans CN"/>
              </a:rPr>
              <a:t> </a:t>
            </a: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Source Han Sans CN"/>
              </a:rPr>
              <a:t>Using the right basis: Better intuition and better performances 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77400" y="67320"/>
            <a:ext cx="894780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MU Sans Serif"/>
              <a:ea typeface="DejaVu Sans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6134040"/>
            <a:ext cx="1209204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454d4d"/>
                </a:solidFill>
                <a:uFillTx/>
                <a:latin typeface="CMU Serif"/>
                <a:ea typeface="DejaVu Sans"/>
              </a:rPr>
              <a:t>[1] Royer B, Singh S, Girvin S M 2020 Phys. Rev. Lett. 125 260509 </a:t>
            </a:r>
            <a:endParaRPr b="0" lang="en-US" sz="2100" strike="noStrike" u="sng">
              <a:solidFill>
                <a:srgbClr val="454d4d"/>
              </a:solidFill>
              <a:uFillTx/>
              <a:latin typeface="Arial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454d4d"/>
                </a:solidFill>
                <a:uFillTx/>
                <a:latin typeface="CMU Serif"/>
                <a:ea typeface="Source Han Sans CN"/>
              </a:rPr>
              <a:t>[2] Hopfmueller F, Tremblay M, St–Jean P, Royer B, Lemonde M</a:t>
            </a:r>
            <a:endParaRPr b="0" lang="en-US" sz="2100" strike="noStrike" u="sng">
              <a:solidFill>
                <a:srgbClr val="454d4d"/>
              </a:solidFill>
              <a:uFillTx/>
              <a:latin typeface="Arial"/>
              <a:ea typeface="Source Han Sans CN"/>
            </a:endParaRPr>
          </a:p>
        </p:txBody>
      </p:sp>
      <p:sp>
        <p:nvSpPr>
          <p:cNvPr id="277" name=""/>
          <p:cNvSpPr/>
          <p:nvPr/>
        </p:nvSpPr>
        <p:spPr>
          <a:xfrm>
            <a:off x="11881080" y="651168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6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625760" y="4654800"/>
            <a:ext cx="8935920" cy="1103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9" name=""/>
          <p:cNvGrpSpPr/>
          <p:nvPr/>
        </p:nvGrpSpPr>
        <p:grpSpPr>
          <a:xfrm>
            <a:off x="3386520" y="2484360"/>
            <a:ext cx="5256360" cy="1941120"/>
            <a:chOff x="3386520" y="2484360"/>
            <a:chExt cx="5256360" cy="1941120"/>
          </a:xfrm>
        </p:grpSpPr>
        <p:pic>
          <p:nvPicPr>
            <p:cNvPr id="280" name="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4222440" y="2607480"/>
              <a:ext cx="4404600" cy="571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1" name=""/>
            <p:cNvSpPr/>
            <p:nvPr/>
          </p:nvSpPr>
          <p:spPr>
            <a:xfrm>
              <a:off x="3386520" y="3675600"/>
              <a:ext cx="2059920" cy="38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600" strike="noStrike" u="none">
                  <a:solidFill>
                    <a:srgbClr val="071519"/>
                  </a:solidFill>
                  <a:uFillTx/>
                  <a:latin typeface="CMU Serif"/>
                  <a:ea typeface="DejaVu Sans"/>
                </a:rPr>
                <a:t>GKP codespace</a:t>
              </a:r>
              <a:endParaRPr b="0" lang="en-US" sz="2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5776920" y="3276000"/>
              <a:ext cx="567000" cy="579960"/>
            </a:xfrm>
            <a:custGeom>
              <a:avLst/>
              <a:gdLst>
                <a:gd name="textAreaLeft" fmla="*/ 0 w 567000"/>
                <a:gd name="textAreaRight" fmla="*/ 573120 w 567000"/>
                <a:gd name="textAreaTop" fmla="*/ 0 h 579960"/>
                <a:gd name="textAreaBottom" fmla="*/ 585360 h 579960"/>
              </a:gdLst>
              <a:ahLst/>
              <a:rect l="textAreaLeft" t="textAreaTop" r="textAreaRight" b="textAreaBottom"/>
              <a:pathLst>
                <a:path fill="none" w="1747" h="2071">
                  <a:moveTo>
                    <a:pt x="0" y="2071"/>
                  </a:moveTo>
                  <a:cubicBezTo>
                    <a:pt x="915" y="1807"/>
                    <a:pt x="1679" y="1263"/>
                    <a:pt x="1747" y="0"/>
                  </a:cubicBezTo>
                </a:path>
              </a:pathLst>
            </a:custGeom>
            <a:noFill/>
            <a:ln w="19080">
              <a:solidFill>
                <a:srgbClr val="07151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6612480" y="4037040"/>
              <a:ext cx="1934640" cy="38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600" strike="noStrike" u="none">
                  <a:solidFill>
                    <a:srgbClr val="071519"/>
                  </a:solidFill>
                  <a:uFillTx/>
                  <a:latin typeface="CMU Serif"/>
                  <a:ea typeface="DejaVu Sans"/>
                </a:rPr>
                <a:t>Defined from sBs</a:t>
              </a:r>
              <a:endParaRPr b="0" lang="en-US" sz="2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7801560" y="3253680"/>
              <a:ext cx="360720" cy="776880"/>
            </a:xfrm>
            <a:custGeom>
              <a:avLst/>
              <a:gdLst>
                <a:gd name="textAreaLeft" fmla="*/ 0 w 360720"/>
                <a:gd name="textAreaRight" fmla="*/ 366840 w 360720"/>
                <a:gd name="textAreaTop" fmla="*/ 0 h 776880"/>
                <a:gd name="textAreaBottom" fmla="*/ 783000 h 776880"/>
              </a:gdLst>
              <a:ahLst/>
              <a:rect l="textAreaLeft" t="textAreaTop" r="textAreaRight" b="textAreaBottom"/>
              <a:pathLst>
                <a:path fill="none" w="1119" h="2387">
                  <a:moveTo>
                    <a:pt x="0" y="2387"/>
                  </a:moveTo>
                  <a:cubicBezTo>
                    <a:pt x="108" y="1311"/>
                    <a:pt x="1144" y="1648"/>
                    <a:pt x="1119" y="0"/>
                  </a:cubicBezTo>
                </a:path>
              </a:pathLst>
            </a:custGeom>
            <a:noFill/>
            <a:ln w="19080">
              <a:solidFill>
                <a:srgbClr val="07151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6573960" y="3293640"/>
              <a:ext cx="420480" cy="736920"/>
            </a:xfrm>
            <a:custGeom>
              <a:avLst/>
              <a:gdLst>
                <a:gd name="textAreaLeft" fmla="*/ 0 w 420480"/>
                <a:gd name="textAreaRight" fmla="*/ 426600 w 420480"/>
                <a:gd name="textAreaTop" fmla="*/ 0 h 736920"/>
                <a:gd name="textAreaBottom" fmla="*/ 742680 h 736920"/>
              </a:gdLst>
              <a:ahLst/>
              <a:rect l="textAreaLeft" t="textAreaTop" r="textAreaRight" b="textAreaBottom"/>
              <a:pathLst>
                <a:path fill="none" w="1300" h="2531">
                  <a:moveTo>
                    <a:pt x="1294" y="2531"/>
                  </a:moveTo>
                  <a:cubicBezTo>
                    <a:pt x="1402" y="1455"/>
                    <a:pt x="25" y="1648"/>
                    <a:pt x="0" y="0"/>
                  </a:cubicBezTo>
                </a:path>
              </a:pathLst>
            </a:custGeom>
            <a:noFill/>
            <a:ln w="19080">
              <a:solidFill>
                <a:srgbClr val="07151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6031080" y="2484360"/>
              <a:ext cx="944280" cy="768240"/>
            </a:xfrm>
            <a:prstGeom prst="roundRect">
              <a:avLst>
                <a:gd name="adj" fmla="val 16667"/>
              </a:avLst>
            </a:prstGeom>
            <a:solidFill>
              <a:srgbClr val="d75f57">
                <a:alpha val="40000"/>
              </a:srgbClr>
            </a:solidFill>
            <a:ln w="19080">
              <a:solidFill>
                <a:srgbClr val="d75f57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7698600" y="2484720"/>
              <a:ext cx="944280" cy="768240"/>
            </a:xfrm>
            <a:prstGeom prst="roundRect">
              <a:avLst>
                <a:gd name="adj" fmla="val 16667"/>
              </a:avLst>
            </a:prstGeom>
            <a:solidFill>
              <a:srgbClr val="005350">
                <a:alpha val="40000"/>
              </a:srgbClr>
            </a:solidFill>
            <a:ln w="19080">
              <a:solidFill>
                <a:srgbClr val="005350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88" name=""/>
          <p:cNvSpPr/>
          <p:nvPr/>
        </p:nvSpPr>
        <p:spPr>
          <a:xfrm>
            <a:off x="8728560" y="4682520"/>
            <a:ext cx="600120" cy="615600"/>
          </a:xfrm>
          <a:custGeom>
            <a:avLst/>
            <a:gdLst>
              <a:gd name="textAreaLeft" fmla="*/ 29160 w 600120"/>
              <a:gd name="textAreaRight" fmla="*/ 572040 w 600120"/>
              <a:gd name="textAreaTop" fmla="*/ 29160 h 615600"/>
              <a:gd name="textAreaBottom" fmla="*/ 587520 h 615600"/>
            </a:gdLst>
            <a:ahLst/>
            <a:rect l="textAreaLeft" t="textAreaTop" r="textAreaRight" b="textAreaBottom"/>
            <a:pathLst>
              <a:path w="21600" h="22156">
                <a:moveTo>
                  <a:pt x="3600" y="0"/>
                </a:moveTo>
                <a:arcTo wR="3600" hR="3600" stAng="16200000" swAng="-5400000"/>
                <a:lnTo>
                  <a:pt x="0" y="18556"/>
                </a:lnTo>
                <a:arcTo wR="3600" hR="3600" stAng="10800000" swAng="-5400000"/>
                <a:lnTo>
                  <a:pt x="18000" y="22156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d75f57">
              <a:alpha val="40000"/>
            </a:srgbClr>
          </a:solidFill>
          <a:ln w="19080">
            <a:solidFill>
              <a:srgbClr val="d75f57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89" name=""/>
          <p:cNvSpPr/>
          <p:nvPr/>
        </p:nvSpPr>
        <p:spPr>
          <a:xfrm>
            <a:off x="9395640" y="4682520"/>
            <a:ext cx="1209240" cy="615600"/>
          </a:xfrm>
          <a:prstGeom prst="roundRect">
            <a:avLst>
              <a:gd name="adj" fmla="val 16667"/>
            </a:avLst>
          </a:prstGeom>
          <a:solidFill>
            <a:srgbClr val="005350">
              <a:alpha val="40000"/>
            </a:srgbClr>
          </a:solidFill>
          <a:ln w="19080">
            <a:solidFill>
              <a:srgbClr val="00535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>
            <a:off x="102600" y="1887480"/>
            <a:ext cx="1190808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787000" y="572400"/>
            <a:ext cx="61488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</a:rPr>
              <a:t>sBs</a:t>
            </a:r>
            <a:endParaRPr b="0" lang="en-US" sz="1800" strike="noStrike" u="none">
              <a:solidFill>
                <a:srgbClr val="000000"/>
              </a:solidFill>
              <a:uFillTx/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548000" y="501120"/>
            <a:ext cx="8652600" cy="57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"/>
          <p:cNvSpPr/>
          <p:nvPr/>
        </p:nvSpPr>
        <p:spPr>
          <a:xfrm>
            <a:off x="-56160" y="0"/>
            <a:ext cx="1063260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Source Han Sans CN"/>
              </a:rPr>
              <a:t> </a:t>
            </a: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Source Han Sans CN"/>
              </a:rPr>
              <a:t>Using the right basis: Better intuition and better performances 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84320" y="222120"/>
            <a:ext cx="894780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MU Sans Serif"/>
              <a:ea typeface="DejaVu Sans"/>
            </a:endParaRPr>
          </a:p>
        </p:txBody>
      </p:sp>
      <p:grpSp>
        <p:nvGrpSpPr>
          <p:cNvPr id="295" name=""/>
          <p:cNvGrpSpPr/>
          <p:nvPr/>
        </p:nvGrpSpPr>
        <p:grpSpPr>
          <a:xfrm>
            <a:off x="97920" y="4652640"/>
            <a:ext cx="3235320" cy="979560"/>
            <a:chOff x="97920" y="4652640"/>
            <a:chExt cx="3235320" cy="979560"/>
          </a:xfrm>
        </p:grpSpPr>
        <p:sp>
          <p:nvSpPr>
            <p:cNvPr id="296" name=""/>
            <p:cNvSpPr/>
            <p:nvPr/>
          </p:nvSpPr>
          <p:spPr>
            <a:xfrm>
              <a:off x="97920" y="4773240"/>
              <a:ext cx="2635200" cy="85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600" strike="noStrike" u="none">
                  <a:solidFill>
                    <a:srgbClr val="071519"/>
                  </a:solidFill>
                  <a:uFillTx/>
                  <a:latin typeface="CMU Serif"/>
                  <a:ea typeface="DejaVu Sans"/>
                </a:rPr>
                <a:t>Identity on logical</a:t>
              </a:r>
              <a:endParaRPr b="0" lang="en-US" sz="2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2600" strike="noStrike" u="none">
                  <a:solidFill>
                    <a:srgbClr val="071519"/>
                  </a:solidFill>
                  <a:uFillTx/>
                  <a:latin typeface="CMU Serif"/>
                  <a:ea typeface="DejaVu Sans"/>
                </a:rPr>
                <a:t>space</a:t>
              </a:r>
              <a:endParaRPr b="0" lang="en-US" sz="2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2311560" y="4652640"/>
              <a:ext cx="1021680" cy="419040"/>
            </a:xfrm>
            <a:custGeom>
              <a:avLst/>
              <a:gdLst>
                <a:gd name="textAreaLeft" fmla="*/ 0 w 1021680"/>
                <a:gd name="textAreaRight" fmla="*/ 1028520 w 1021680"/>
                <a:gd name="textAreaTop" fmla="*/ 0 h 419040"/>
                <a:gd name="textAreaBottom" fmla="*/ 425880 h 419040"/>
              </a:gdLst>
              <a:ahLst/>
              <a:rect l="textAreaLeft" t="textAreaTop" r="textAreaRight" b="textAreaBottom"/>
              <a:pathLst>
                <a:path fill="none" w="2857" h="1183">
                  <a:moveTo>
                    <a:pt x="0" y="335"/>
                  </a:moveTo>
                  <a:cubicBezTo>
                    <a:pt x="187" y="-762"/>
                    <a:pt x="1955" y="1183"/>
                    <a:pt x="2857" y="1183"/>
                  </a:cubicBezTo>
                </a:path>
              </a:pathLst>
            </a:custGeom>
            <a:noFill/>
            <a:ln w="38160">
              <a:solidFill>
                <a:srgbClr val="07151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108720" rIns="108720" tIns="63720" bIns="63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98" name=""/>
          <p:cNvGrpSpPr/>
          <p:nvPr/>
        </p:nvGrpSpPr>
        <p:grpSpPr>
          <a:xfrm>
            <a:off x="3466800" y="986400"/>
            <a:ext cx="4505760" cy="4497480"/>
            <a:chOff x="3466800" y="986400"/>
            <a:chExt cx="4505760" cy="4497480"/>
          </a:xfrm>
        </p:grpSpPr>
        <p:sp>
          <p:nvSpPr>
            <p:cNvPr id="299" name=""/>
            <p:cNvSpPr/>
            <p:nvPr/>
          </p:nvSpPr>
          <p:spPr>
            <a:xfrm>
              <a:off x="3764160" y="5184000"/>
              <a:ext cx="593280" cy="29988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0" name=""/>
            <p:cNvSpPr/>
            <p:nvPr/>
          </p:nvSpPr>
          <p:spPr>
            <a:xfrm rot="5400000">
              <a:off x="3314880" y="4735800"/>
              <a:ext cx="601200" cy="29736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4366440" y="4586760"/>
              <a:ext cx="894240" cy="59868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2" name=""/>
            <p:cNvSpPr/>
            <p:nvPr/>
          </p:nvSpPr>
          <p:spPr>
            <a:xfrm rot="5400000">
              <a:off x="3615120" y="3830760"/>
              <a:ext cx="903960" cy="59832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3" name=""/>
            <p:cNvSpPr/>
            <p:nvPr/>
          </p:nvSpPr>
          <p:spPr>
            <a:xfrm rot="5400000">
              <a:off x="4221720" y="2626560"/>
              <a:ext cx="1193760" cy="90108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4" name=""/>
            <p:cNvSpPr/>
            <p:nvPr/>
          </p:nvSpPr>
          <p:spPr>
            <a:xfrm rot="10800000">
              <a:off x="5274000" y="3683520"/>
              <a:ext cx="1202040" cy="90108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5" name=""/>
            <p:cNvSpPr/>
            <p:nvPr/>
          </p:nvSpPr>
          <p:spPr>
            <a:xfrm rot="10800000">
              <a:off x="6480720" y="2476080"/>
              <a:ext cx="1491840" cy="120276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6" name=""/>
            <p:cNvSpPr/>
            <p:nvPr/>
          </p:nvSpPr>
          <p:spPr>
            <a:xfrm rot="16200000">
              <a:off x="5127120" y="1136880"/>
              <a:ext cx="1490760" cy="118980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307" name=""/>
          <p:cNvGrpSpPr/>
          <p:nvPr/>
        </p:nvGrpSpPr>
        <p:grpSpPr>
          <a:xfrm>
            <a:off x="9367560" y="2716560"/>
            <a:ext cx="2819520" cy="1284840"/>
            <a:chOff x="9367560" y="2716560"/>
            <a:chExt cx="2819520" cy="1284840"/>
          </a:xfrm>
        </p:grpSpPr>
        <p:sp>
          <p:nvSpPr>
            <p:cNvPr id="308" name=""/>
            <p:cNvSpPr/>
            <p:nvPr/>
          </p:nvSpPr>
          <p:spPr>
            <a:xfrm>
              <a:off x="9367560" y="2780280"/>
              <a:ext cx="298800" cy="777600"/>
            </a:xfrm>
            <a:prstGeom prst="rect">
              <a:avLst/>
            </a:prstGeom>
            <a:solidFill>
              <a:srgbClr val="005350">
                <a:alpha val="5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9484560" y="2716560"/>
              <a:ext cx="2702520" cy="12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600" strike="noStrike" u="none">
                  <a:solidFill>
                    <a:srgbClr val="071519"/>
                  </a:solidFill>
                  <a:uFillTx/>
                  <a:latin typeface="CMU Serif"/>
                  <a:ea typeface="DejaVu Sans"/>
                </a:rPr>
                <a:t>Block structure in error space</a:t>
              </a:r>
              <a:endParaRPr b="0" lang="en-US" sz="2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10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7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6134040"/>
            <a:ext cx="1209204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454d4d"/>
                </a:solidFill>
                <a:uFillTx/>
                <a:latin typeface="CMU Serif"/>
                <a:ea typeface="DejaVu Sans"/>
              </a:rPr>
              <a:t>[1] Royer B, Singh S, Girvin S M 2020 Phys. Rev. Lett. 125 260509 </a:t>
            </a:r>
            <a:endParaRPr b="0" lang="en-US" sz="2100" strike="noStrike" u="sng">
              <a:solidFill>
                <a:srgbClr val="454d4d"/>
              </a:solidFill>
              <a:uFillTx/>
              <a:latin typeface="Arial"/>
              <a:ea typeface="Source Han Sans CN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454d4d"/>
                </a:solidFill>
                <a:uFillTx/>
                <a:latin typeface="CMU Serif"/>
                <a:ea typeface="Source Han Sans CN"/>
              </a:rPr>
              <a:t>[2] Hopfmueller F, Tremblay M, St–Jean P, Royer B, Lemonde M</a:t>
            </a:r>
            <a:endParaRPr b="0" lang="en-US" sz="2100" strike="noStrike" u="sng">
              <a:solidFill>
                <a:srgbClr val="454d4d"/>
              </a:solidFill>
              <a:uFillTx/>
              <a:latin typeface="Arial"/>
              <a:ea typeface="Source Han Sans C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3000" y="1488240"/>
            <a:ext cx="5111640" cy="12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"/>
          <p:cNvSpPr/>
          <p:nvPr/>
        </p:nvSpPr>
        <p:spPr>
          <a:xfrm>
            <a:off x="0" y="0"/>
            <a:ext cx="1195812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 </a:t>
            </a: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Single cavity: entanglement entropy between the logical and gauge space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4" name=""/>
          <p:cNvGrpSpPr/>
          <p:nvPr/>
        </p:nvGrpSpPr>
        <p:grpSpPr>
          <a:xfrm>
            <a:off x="821160" y="3769560"/>
            <a:ext cx="4555080" cy="1284480"/>
            <a:chOff x="821160" y="3769560"/>
            <a:chExt cx="4555080" cy="1284480"/>
          </a:xfrm>
        </p:grpSpPr>
        <p:grpSp>
          <p:nvGrpSpPr>
            <p:cNvPr id="315" name=""/>
            <p:cNvGrpSpPr/>
            <p:nvPr/>
          </p:nvGrpSpPr>
          <p:grpSpPr>
            <a:xfrm>
              <a:off x="821160" y="3769560"/>
              <a:ext cx="825480" cy="1283760"/>
              <a:chOff x="821160" y="3769560"/>
              <a:chExt cx="825480" cy="1283760"/>
            </a:xfrm>
          </p:grpSpPr>
          <p:sp>
            <p:nvSpPr>
              <p:cNvPr id="316" name=""/>
              <p:cNvSpPr/>
              <p:nvPr/>
            </p:nvSpPr>
            <p:spPr>
              <a:xfrm>
                <a:off x="821160" y="4227840"/>
                <a:ext cx="825480" cy="825480"/>
              </a:xfrm>
              <a:prstGeom prst="ellipse">
                <a:avLst/>
              </a:prstGeom>
              <a:solidFill>
                <a:srgbClr val="d75f57"/>
              </a:solidFill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317" name=""/>
              <p:cNvSpPr/>
              <p:nvPr/>
            </p:nvSpPr>
            <p:spPr>
              <a:xfrm>
                <a:off x="1237320" y="3769560"/>
                <a:ext cx="360" cy="458280"/>
              </a:xfrm>
              <a:prstGeom prst="line">
                <a:avLst/>
              </a:prstGeom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</p:grpSp>
        <p:sp>
          <p:nvSpPr>
            <p:cNvPr id="318" name=""/>
            <p:cNvSpPr/>
            <p:nvPr/>
          </p:nvSpPr>
          <p:spPr>
            <a:xfrm>
              <a:off x="2973600" y="4228200"/>
              <a:ext cx="825480" cy="825480"/>
            </a:xfrm>
            <a:prstGeom prst="ellipse">
              <a:avLst/>
            </a:prstGeom>
            <a:solidFill>
              <a:srgbClr val="e19440"/>
            </a:solidFill>
            <a:ln w="5724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8440" rIns="118440" tIns="73440" bIns="73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3389760" y="3769920"/>
              <a:ext cx="360" cy="458280"/>
            </a:xfrm>
            <a:prstGeom prst="line">
              <a:avLst/>
            </a:prstGeom>
            <a:ln w="1908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grpSp>
          <p:nvGrpSpPr>
            <p:cNvPr id="320" name=""/>
            <p:cNvGrpSpPr/>
            <p:nvPr/>
          </p:nvGrpSpPr>
          <p:grpSpPr>
            <a:xfrm>
              <a:off x="4550760" y="3770280"/>
              <a:ext cx="825480" cy="1283760"/>
              <a:chOff x="4550760" y="3770280"/>
              <a:chExt cx="825480" cy="1283760"/>
            </a:xfrm>
          </p:grpSpPr>
          <p:sp>
            <p:nvSpPr>
              <p:cNvPr id="321" name=""/>
              <p:cNvSpPr/>
              <p:nvPr/>
            </p:nvSpPr>
            <p:spPr>
              <a:xfrm>
                <a:off x="4550760" y="4228560"/>
                <a:ext cx="825480" cy="825480"/>
              </a:xfrm>
              <a:prstGeom prst="ellipse">
                <a:avLst/>
              </a:prstGeom>
              <a:solidFill>
                <a:srgbClr val="9daf9a"/>
              </a:solidFill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322" name=""/>
              <p:cNvSpPr/>
              <p:nvPr/>
            </p:nvSpPr>
            <p:spPr>
              <a:xfrm>
                <a:off x="4966920" y="3770280"/>
                <a:ext cx="360" cy="458280"/>
              </a:xfrm>
              <a:prstGeom prst="line">
                <a:avLst/>
              </a:prstGeom>
              <a:ln w="57240">
                <a:solidFill>
                  <a:srgbClr val="0715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440" rIns="118440" tIns="73440" bIns="7344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  <a:ea typeface="DejaVu Sans"/>
                </a:endParaRPr>
              </a:p>
            </p:txBody>
          </p:sp>
        </p:grpSp>
        <p:sp>
          <p:nvSpPr>
            <p:cNvPr id="323" name=""/>
            <p:cNvSpPr/>
            <p:nvPr/>
          </p:nvSpPr>
          <p:spPr>
            <a:xfrm>
              <a:off x="3805920" y="4619520"/>
              <a:ext cx="744840" cy="360"/>
            </a:xfrm>
            <a:prstGeom prst="line">
              <a:avLst/>
            </a:prstGeom>
            <a:ln w="19080">
              <a:solidFill>
                <a:srgbClr val="0715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-54360" bIns="-543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endParaRPr>
            </a:p>
          </p:txBody>
        </p:sp>
        <p:pic>
          <p:nvPicPr>
            <p:cNvPr id="324" name="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1074600" y="4426200"/>
              <a:ext cx="302040" cy="410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5" name="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4748040" y="4426200"/>
              <a:ext cx="483120" cy="410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6" name="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3164760" y="4426200"/>
              <a:ext cx="431280" cy="410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7" name="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1936800" y="4432680"/>
              <a:ext cx="688320" cy="214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28" name=""/>
          <p:cNvSpPr/>
          <p:nvPr/>
        </p:nvSpPr>
        <p:spPr>
          <a:xfrm>
            <a:off x="879120" y="5719320"/>
            <a:ext cx="17938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logical space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742840" y="5178960"/>
            <a:ext cx="622080" cy="738720"/>
          </a:xfrm>
          <a:custGeom>
            <a:avLst/>
            <a:gdLst>
              <a:gd name="textAreaLeft" fmla="*/ 0 w 622080"/>
              <a:gd name="textAreaRight" fmla="*/ 628920 w 622080"/>
              <a:gd name="textAreaTop" fmla="*/ 0 h 738720"/>
              <a:gd name="textAreaBottom" fmla="*/ 745560 h 738720"/>
            </a:gdLst>
            <a:ahLst/>
            <a:rect l="textAreaLeft" t="textAreaTop" r="textAreaRight" b="textAreaBottom"/>
            <a:pathLst>
              <a:path fill="none" w="1747" h="2071">
                <a:moveTo>
                  <a:pt x="0" y="2071"/>
                </a:moveTo>
                <a:cubicBezTo>
                  <a:pt x="915" y="1807"/>
                  <a:pt x="1679" y="1263"/>
                  <a:pt x="1747" y="0"/>
                </a:cubicBezTo>
              </a:path>
            </a:pathLst>
          </a:custGeom>
          <a:noFill/>
          <a:ln w="1908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>
            <a:off x="4061880" y="6010200"/>
            <a:ext cx="27687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error (gauge) space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5062680" y="5150880"/>
            <a:ext cx="296640" cy="784800"/>
          </a:xfrm>
          <a:custGeom>
            <a:avLst/>
            <a:gdLst>
              <a:gd name="textAreaLeft" fmla="*/ 0 w 296640"/>
              <a:gd name="textAreaRight" fmla="*/ 303480 w 296640"/>
              <a:gd name="textAreaTop" fmla="*/ 0 h 784800"/>
              <a:gd name="textAreaBottom" fmla="*/ 791640 h 784800"/>
            </a:gdLst>
            <a:ahLst/>
            <a:rect l="textAreaLeft" t="textAreaTop" r="textAreaRight" b="textAreaBottom"/>
            <a:pathLst>
              <a:path fill="none" w="843" h="2199">
                <a:moveTo>
                  <a:pt x="834" y="2199"/>
                </a:moveTo>
                <a:cubicBezTo>
                  <a:pt x="942" y="1123"/>
                  <a:pt x="25" y="1648"/>
                  <a:pt x="0" y="0"/>
                </a:cubicBezTo>
              </a:path>
            </a:pathLst>
          </a:custGeom>
          <a:noFill/>
          <a:ln w="1908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32" name=""/>
          <p:cNvSpPr/>
          <p:nvPr/>
        </p:nvSpPr>
        <p:spPr>
          <a:xfrm>
            <a:off x="11881080" y="651204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8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638680" y="1383840"/>
            <a:ext cx="6252840" cy="438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>
            <a:off x="291240" y="5338800"/>
            <a:ext cx="561024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0"/>
            <a:ext cx="5610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Results</a:t>
            </a:r>
            <a:r>
              <a:rPr b="0" lang="en-US" sz="26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: Stabilizing a Bell Pair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11881080" y="6512400"/>
            <a:ext cx="290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9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1398960" y="617760"/>
            <a:ext cx="11530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GKP qubit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611440" y="679680"/>
            <a:ext cx="1163880" cy="284760"/>
          </a:xfrm>
          <a:custGeom>
            <a:avLst/>
            <a:gdLst>
              <a:gd name="textAreaLeft" fmla="*/ 0 w 1163880"/>
              <a:gd name="textAreaRight" fmla="*/ 1167840 w 1163880"/>
              <a:gd name="textAreaTop" fmla="*/ 0 h 284760"/>
              <a:gd name="textAreaBottom" fmla="*/ 288720 h 284760"/>
            </a:gdLst>
            <a:ahLst/>
            <a:rect l="textAreaLeft" t="textAreaTop" r="textAreaRight" b="textAreaBottom"/>
            <a:pathLst>
              <a:path fill="none" w="3244" h="802">
                <a:moveTo>
                  <a:pt x="0" y="257"/>
                </a:moveTo>
                <a:cubicBezTo>
                  <a:pt x="1615" y="197"/>
                  <a:pt x="2535" y="-543"/>
                  <a:pt x="3244" y="802"/>
                </a:cubicBezTo>
              </a:path>
            </a:pathLst>
          </a:custGeom>
          <a:noFill/>
          <a:ln w="1260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39" name=""/>
          <p:cNvSpPr/>
          <p:nvPr/>
        </p:nvSpPr>
        <p:spPr>
          <a:xfrm>
            <a:off x="1374840" y="1523880"/>
            <a:ext cx="11530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71519"/>
                </a:solidFill>
                <a:uFillTx/>
                <a:latin typeface="CMU Serif"/>
                <a:ea typeface="DejaVu Sans"/>
              </a:rPr>
              <a:t>TLS qubit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2476440" y="1612440"/>
            <a:ext cx="1281960" cy="215280"/>
          </a:xfrm>
          <a:custGeom>
            <a:avLst/>
            <a:gdLst>
              <a:gd name="textAreaLeft" fmla="*/ 0 w 1281960"/>
              <a:gd name="textAreaRight" fmla="*/ 1285920 w 1281960"/>
              <a:gd name="textAreaTop" fmla="*/ 0 h 215280"/>
              <a:gd name="textAreaBottom" fmla="*/ 219240 h 215280"/>
            </a:gdLst>
            <a:ahLst/>
            <a:rect l="textAreaLeft" t="textAreaTop" r="textAreaRight" b="textAreaBottom"/>
            <a:pathLst>
              <a:path fill="none" w="3572" h="609">
                <a:moveTo>
                  <a:pt x="0" y="261"/>
                </a:moveTo>
                <a:cubicBezTo>
                  <a:pt x="1168" y="614"/>
                  <a:pt x="3017" y="923"/>
                  <a:pt x="3572" y="0"/>
                </a:cubicBezTo>
              </a:path>
            </a:pathLst>
          </a:custGeom>
          <a:noFill/>
          <a:ln w="1260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376000" y="928440"/>
            <a:ext cx="1399320" cy="5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711240" y="679680"/>
            <a:ext cx="5407560" cy="187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"/>
          <p:cNvSpPr/>
          <p:nvPr/>
        </p:nvSpPr>
        <p:spPr>
          <a:xfrm>
            <a:off x="3170520" y="1797120"/>
            <a:ext cx="1301760" cy="386640"/>
          </a:xfrm>
          <a:custGeom>
            <a:avLst/>
            <a:gdLst>
              <a:gd name="textAreaLeft" fmla="*/ 0 w 1301760"/>
              <a:gd name="textAreaRight" fmla="*/ 1303560 w 1301760"/>
              <a:gd name="textAreaTop" fmla="*/ 0 h 386640"/>
              <a:gd name="textAreaBottom" fmla="*/ 388440 h 386640"/>
            </a:gdLst>
            <a:ahLst/>
            <a:rect l="textAreaLeft" t="textAreaTop" r="textAreaRight" b="textAreaBottom"/>
            <a:pathLst>
              <a:path fill="none" w="3621" h="1079">
                <a:moveTo>
                  <a:pt x="0" y="95"/>
                </a:moveTo>
                <a:cubicBezTo>
                  <a:pt x="1436" y="95"/>
                  <a:pt x="3671" y="-451"/>
                  <a:pt x="3620" y="1079"/>
                </a:cubicBezTo>
              </a:path>
            </a:pathLst>
          </a:custGeom>
          <a:noFill/>
          <a:ln w="12600">
            <a:solidFill>
              <a:srgbClr val="07151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057760" y="2450160"/>
            <a:ext cx="8072640" cy="461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3436200" y="349920"/>
            <a:ext cx="10698120" cy="787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524880" y="2620080"/>
            <a:ext cx="284904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Looking Forward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439560" y="1411560"/>
            <a:ext cx="51789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48" name=""/>
          <p:cNvSpPr/>
          <p:nvPr/>
        </p:nvSpPr>
        <p:spPr>
          <a:xfrm>
            <a:off x="852480" y="3327480"/>
            <a:ext cx="5633280" cy="44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buClr>
                <a:srgbClr val="005350"/>
              </a:buClr>
              <a:buFont typeface="Symbol" charset="2"/>
              <a:buChar char="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Simulating larger circuits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71519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Simulating code concatenation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5350"/>
              </a:buClr>
              <a:buFont typeface="Symbol" charset="2"/>
              <a:buChar char="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The limits of the framework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71519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Accuracy of noise representation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71519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Exact effect of bond dimention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5350"/>
              </a:buClr>
              <a:buFont typeface="Symbol" charset="2"/>
              <a:buChar char="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Different tensor network structures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1608560" y="6512400"/>
            <a:ext cx="563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10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546120" y="393120"/>
            <a:ext cx="993096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uFillTx/>
                <a:latin typeface="CMU Sans Serif"/>
                <a:ea typeface="DejaVu Sans"/>
              </a:rPr>
              <a:t>Summary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793800" y="1015560"/>
            <a:ext cx="10464840" cy="44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CMU Serif"/>
                <a:ea typeface="DejaVu Sans"/>
              </a:rPr>
              <a:t>Simulating systems with many cavities can be hard because of a large hilbert space. Tools like tensor networks, Monte Carlo and clever basis choice can all be combined to get better performances.  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8726400" y="4407840"/>
            <a:ext cx="127440" cy="126720"/>
          </a:xfrm>
          <a:prstGeom prst="ellipse">
            <a:avLst/>
          </a:prstGeom>
          <a:solidFill>
            <a:srgbClr val="d7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9966</TotalTime>
  <Application>LibreOffice/24.8.5.2$Linux_X86_64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2024-11-22T20:57:44Z</dcterms:created>
  <dc:creator>Sara Turcotte</dc:creator>
  <dc:description/>
  <dc:language>en-US</dc:language>
  <cp:lastModifiedBy/>
  <cp:lastPrinted>2025-03-08T14:47:15Z</cp:lastPrinted>
  <dcterms:modified xsi:type="dcterms:W3CDTF">2025-03-18T12:33:31Z</dcterms:modified>
  <cp:revision>77</cp:revision>
  <dc:subject/>
  <dc:title>Presentation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1</vt:r8>
  </property>
  <property fmtid="{D5CDD505-2E9C-101B-9397-08002B2CF9AE}" pid="3" name="Notes">
    <vt:r8>2</vt:r8>
  </property>
  <property fmtid="{D5CDD505-2E9C-101B-9397-08002B2CF9AE}" pid="4" name="PresentationFormat">
    <vt:lpwstr>Grand écran</vt:lpwstr>
  </property>
  <property fmtid="{D5CDD505-2E9C-101B-9397-08002B2CF9AE}" pid="5" name="Slides">
    <vt:r8>6</vt:r8>
  </property>
</Properties>
</file>